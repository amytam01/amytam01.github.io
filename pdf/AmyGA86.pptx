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93455" r:id="rId6"/>
    <p:sldMasterId id="2147493551" r:id="rId7"/>
  </p:sldMasterIdLst>
  <p:notesMasterIdLst>
    <p:notesMasterId r:id="rId67"/>
  </p:notesMasterIdLst>
  <p:sldIdLst>
    <p:sldId id="308" r:id="rId8"/>
    <p:sldId id="341" r:id="rId9"/>
    <p:sldId id="256" r:id="rId10"/>
    <p:sldId id="310" r:id="rId11"/>
    <p:sldId id="323" r:id="rId12"/>
    <p:sldId id="309" r:id="rId13"/>
    <p:sldId id="342" r:id="rId14"/>
    <p:sldId id="322" r:id="rId15"/>
    <p:sldId id="338" r:id="rId16"/>
    <p:sldId id="333" r:id="rId17"/>
    <p:sldId id="335" r:id="rId18"/>
    <p:sldId id="331" r:id="rId19"/>
    <p:sldId id="337" r:id="rId20"/>
    <p:sldId id="340" r:id="rId21"/>
    <p:sldId id="332" r:id="rId22"/>
    <p:sldId id="336" r:id="rId23"/>
    <p:sldId id="343" r:id="rId24"/>
    <p:sldId id="312" r:id="rId25"/>
    <p:sldId id="377" r:id="rId26"/>
    <p:sldId id="321" r:id="rId27"/>
    <p:sldId id="354" r:id="rId28"/>
    <p:sldId id="345" r:id="rId29"/>
    <p:sldId id="346" r:id="rId30"/>
    <p:sldId id="349" r:id="rId31"/>
    <p:sldId id="347" r:id="rId32"/>
    <p:sldId id="350" r:id="rId33"/>
    <p:sldId id="351" r:id="rId34"/>
    <p:sldId id="352" r:id="rId35"/>
    <p:sldId id="353" r:id="rId36"/>
    <p:sldId id="378" r:id="rId37"/>
    <p:sldId id="359" r:id="rId38"/>
    <p:sldId id="360" r:id="rId39"/>
    <p:sldId id="362" r:id="rId40"/>
    <p:sldId id="363" r:id="rId41"/>
    <p:sldId id="364" r:id="rId42"/>
    <p:sldId id="365" r:id="rId43"/>
    <p:sldId id="366" r:id="rId44"/>
    <p:sldId id="367" r:id="rId45"/>
    <p:sldId id="344" r:id="rId46"/>
    <p:sldId id="317" r:id="rId47"/>
    <p:sldId id="324" r:id="rId48"/>
    <p:sldId id="325" r:id="rId49"/>
    <p:sldId id="320" r:id="rId50"/>
    <p:sldId id="356" r:id="rId51"/>
    <p:sldId id="368" r:id="rId52"/>
    <p:sldId id="369" r:id="rId53"/>
    <p:sldId id="314" r:id="rId54"/>
    <p:sldId id="373" r:id="rId55"/>
    <p:sldId id="370" r:id="rId56"/>
    <p:sldId id="374" r:id="rId57"/>
    <p:sldId id="380" r:id="rId58"/>
    <p:sldId id="371" r:id="rId59"/>
    <p:sldId id="376" r:id="rId60"/>
    <p:sldId id="379" r:id="rId61"/>
    <p:sldId id="372" r:id="rId62"/>
    <p:sldId id="315" r:id="rId63"/>
    <p:sldId id="327" r:id="rId64"/>
    <p:sldId id="357" r:id="rId65"/>
    <p:sldId id="375" r:id="rId66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MS PGothic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MS PGothic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MS PGothic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MS PGothic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 snapToObjects="1">
      <p:cViewPr varScale="1">
        <p:scale>
          <a:sx n="124" d="100"/>
          <a:sy n="124" d="100"/>
        </p:scale>
        <p:origin x="122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9" d="100"/>
        <a:sy n="149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63" Type="http://schemas.openxmlformats.org/officeDocument/2006/relationships/slide" Target="slides/slide56.xml"/><Relationship Id="rId68" Type="http://schemas.openxmlformats.org/officeDocument/2006/relationships/presProps" Target="presProps.xml"/><Relationship Id="rId7" Type="http://schemas.openxmlformats.org/officeDocument/2006/relationships/slideMaster" Target="slideMasters/slideMaster2.xml"/><Relationship Id="rId71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66" Type="http://schemas.openxmlformats.org/officeDocument/2006/relationships/slide" Target="slides/slide59.xml"/><Relationship Id="rId5" Type="http://schemas.openxmlformats.org/officeDocument/2006/relationships/customXml" Target="../customXml/item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61" Type="http://schemas.openxmlformats.org/officeDocument/2006/relationships/slide" Target="slides/slide54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slide" Target="slides/slide57.xml"/><Relationship Id="rId69" Type="http://schemas.openxmlformats.org/officeDocument/2006/relationships/viewProps" Target="viewProps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3534247-20A4-440C-8466-93DB85CD786F}" type="datetimeFigureOut">
              <a:rPr lang="en-US"/>
              <a:pPr>
                <a:defRPr/>
              </a:pPr>
              <a:t>8/10/2020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29F745C-8F9E-4664-9EDC-D8653E2D2FC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7172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fld id="{70A03142-B874-4C52-B726-37E5F5CD5C03}" type="slidenum">
              <a:rPr lang="en-US" altLang="en-US" smtClean="0">
                <a:solidFill>
                  <a:srgbClr val="000000"/>
                </a:solidFill>
              </a:rPr>
              <a:pPr/>
              <a:t>1</a:t>
            </a:fld>
            <a:endParaRPr lang="en-US" alt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 smtClean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fld id="{7A23F081-688F-4748-A597-2D14C9FCE585}" type="slidenum">
              <a:rPr lang="en-US" altLang="en-US" smtClean="0"/>
              <a:pPr/>
              <a:t>4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fld id="{7A23F081-688F-4748-A597-2D14C9FCE585}" type="slidenum">
              <a:rPr lang="en-US" altLang="en-US" smtClean="0"/>
              <a:pPr/>
              <a:t>5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6842320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fld id="{4D4FD527-E8B0-4537-A146-2012C5412F35}" type="slidenum">
              <a:rPr lang="en-US" altLang="en-US" smtClean="0"/>
              <a:pPr/>
              <a:t>6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fld id="{7A23F081-688F-4748-A597-2D14C9FCE585}" type="slidenum">
              <a:rPr lang="en-US" altLang="en-US" smtClean="0"/>
              <a:pPr/>
              <a:t>8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9292225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fld id="{8988C28E-05F7-486D-ACAD-CEE17C854C19}" type="slidenum">
              <a:rPr lang="en-US" altLang="en-US" smtClean="0"/>
              <a:pPr/>
              <a:t>10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4847979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fld id="{8988C28E-05F7-486D-ACAD-CEE17C854C19}" type="slidenum">
              <a:rPr lang="en-US" altLang="en-US" smtClean="0"/>
              <a:pPr/>
              <a:t>11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951731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fld id="{8988C28E-05F7-486D-ACAD-CEE17C854C19}" type="slidenum">
              <a:rPr lang="en-US" altLang="en-US" smtClean="0"/>
              <a:pPr/>
              <a:t>12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8570966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fld id="{8988C28E-05F7-486D-ACAD-CEE17C854C19}" type="slidenum">
              <a:rPr lang="en-US" altLang="en-US" smtClean="0"/>
              <a:pPr/>
              <a:t>13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8382364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fld id="{8988C28E-05F7-486D-ACAD-CEE17C854C19}" type="slidenum">
              <a:rPr lang="en-US" altLang="en-US" smtClean="0"/>
              <a:pPr/>
              <a:t>14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1416805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fld id="{8988C28E-05F7-486D-ACAD-CEE17C854C19}" type="slidenum">
              <a:rPr lang="en-US" altLang="en-US" smtClean="0"/>
              <a:pPr/>
              <a:t>15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3749523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fld id="{8988C28E-05F7-486D-ACAD-CEE17C854C19}" type="slidenum">
              <a:rPr lang="en-US" altLang="en-US" smtClean="0"/>
              <a:pPr/>
              <a:t>16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7125299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fld id="{3D08F8FA-F0B4-4728-82E4-1C2D0287CD2C}" type="slidenum">
              <a:rPr lang="en-US" altLang="en-US" smtClean="0"/>
              <a:pPr/>
              <a:t>18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fld id="{4D4FD527-E8B0-4537-A146-2012C5412F35}" type="slidenum">
              <a:rPr lang="en-US" altLang="en-US" smtClean="0"/>
              <a:pPr/>
              <a:t>20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1732753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fld id="{4D4FD527-E8B0-4537-A146-2012C5412F35}" type="slidenum">
              <a:rPr lang="en-US" altLang="en-US" smtClean="0"/>
              <a:pPr/>
              <a:t>21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2204571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fld id="{4D4FD527-E8B0-4537-A146-2012C5412F35}" type="slidenum">
              <a:rPr lang="en-US" altLang="en-US" smtClean="0"/>
              <a:pPr/>
              <a:t>22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28772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fld id="{4D4FD527-E8B0-4537-A146-2012C5412F35}" type="slidenum">
              <a:rPr lang="en-US" altLang="en-US" smtClean="0"/>
              <a:pPr/>
              <a:t>23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0195851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fld id="{4D4FD527-E8B0-4537-A146-2012C5412F35}" type="slidenum">
              <a:rPr lang="en-US" altLang="en-US" smtClean="0"/>
              <a:pPr/>
              <a:t>24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2258400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fld id="{4D4FD527-E8B0-4537-A146-2012C5412F35}" type="slidenum">
              <a:rPr lang="en-US" altLang="en-US" smtClean="0"/>
              <a:pPr/>
              <a:t>25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6058682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fld id="{4D4FD527-E8B0-4537-A146-2012C5412F35}" type="slidenum">
              <a:rPr lang="en-US" altLang="en-US" smtClean="0"/>
              <a:pPr/>
              <a:t>26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9221686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fld id="{4D4FD527-E8B0-4537-A146-2012C5412F35}" type="slidenum">
              <a:rPr lang="en-US" altLang="en-US" smtClean="0"/>
              <a:pPr/>
              <a:t>27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3511101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fld id="{4D4FD527-E8B0-4537-A146-2012C5412F35}" type="slidenum">
              <a:rPr lang="en-US" altLang="en-US" smtClean="0"/>
              <a:pPr/>
              <a:t>28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6974858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fld id="{4D4FD527-E8B0-4537-A146-2012C5412F35}" type="slidenum">
              <a:rPr lang="en-US" altLang="en-US" smtClean="0"/>
              <a:pPr/>
              <a:t>29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11258219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fld id="{2EC7133C-AF06-4CF9-BC5D-D80EBDF6CEA0}" type="slidenum">
              <a:rPr lang="en-US" altLang="en-US" smtClean="0"/>
              <a:pPr/>
              <a:t>40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7792043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fld id="{2EC7133C-AF06-4CF9-BC5D-D80EBDF6CEA0}" type="slidenum">
              <a:rPr lang="en-US" altLang="en-US" smtClean="0"/>
              <a:pPr/>
              <a:t>41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9315583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fld id="{2EC7133C-AF06-4CF9-BC5D-D80EBDF6CEA0}" type="slidenum">
              <a:rPr lang="en-US" altLang="en-US" smtClean="0"/>
              <a:pPr/>
              <a:t>42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6787022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fld id="{2EC7133C-AF06-4CF9-BC5D-D80EBDF6CEA0}" type="slidenum">
              <a:rPr lang="en-US" altLang="en-US" smtClean="0"/>
              <a:pPr/>
              <a:t>44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13401703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fld id="{2EC7133C-AF06-4CF9-BC5D-D80EBDF6CEA0}" type="slidenum">
              <a:rPr lang="en-US" altLang="en-US" smtClean="0"/>
              <a:pPr/>
              <a:t>47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fld id="{7A23F081-688F-4748-A597-2D14C9FCE585}" type="slidenum">
              <a:rPr lang="en-US" altLang="en-US" smtClean="0"/>
              <a:pPr/>
              <a:t>56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5962579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fld id="{8988C28E-05F7-486D-ACAD-CEE17C854C19}" type="slidenum">
              <a:rPr lang="en-US" altLang="en-US" smtClean="0"/>
              <a:pPr/>
              <a:t>57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55013664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fld id="{2EC7133C-AF06-4CF9-BC5D-D80EBDF6CEA0}" type="slidenum">
              <a:rPr lang="en-US" altLang="en-US" smtClean="0"/>
              <a:pPr/>
              <a:t>58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748792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PowerPoint_Template_page_2012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25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4" descr="PredBCloud0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1438" y="898525"/>
            <a:ext cx="9286876" cy="551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2" descr="ASI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8013" y="6464300"/>
            <a:ext cx="1909762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14"/>
          <p:cNvSpPr txBox="1">
            <a:spLocks noChangeArrowheads="1"/>
          </p:cNvSpPr>
          <p:nvPr userDrawn="1"/>
        </p:nvSpPr>
        <p:spPr bwMode="auto">
          <a:xfrm>
            <a:off x="2892425" y="6532563"/>
            <a:ext cx="3359150" cy="2159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1" dirty="0">
                <a:solidFill>
                  <a:srgbClr val="FFFFFF"/>
                </a:solidFill>
                <a:latin typeface="Century Gothic" charset="0"/>
                <a:cs typeface="Century Gothic" charset="0"/>
              </a:rPr>
              <a:t>Aeronautical Systems Proprietary Information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914400"/>
          </a:xfrm>
          <a:prstGeom prst="rect">
            <a:avLst/>
          </a:prstGeom>
        </p:spPr>
        <p:txBody>
          <a:bodyPr/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6224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1"/>
              </a:buClr>
              <a:buSzTx/>
              <a:buFont typeface="Arial"/>
              <a:buChar char="•"/>
              <a:tabLst/>
              <a:defRPr/>
            </a:lvl1pPr>
            <a:lvl2pPr>
              <a:buClr>
                <a:schemeClr val="bg1"/>
              </a:buClr>
              <a:defRPr/>
            </a:lvl2pPr>
            <a:lvl3pPr>
              <a:buClr>
                <a:schemeClr val="bg1"/>
              </a:buClr>
              <a:defRPr/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title" idx="4294967295"/>
          </p:nvPr>
        </p:nvSpPr>
        <p:spPr>
          <a:xfrm>
            <a:off x="-8355" y="217256"/>
            <a:ext cx="9144000" cy="49299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005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400">
                <a:solidFill>
                  <a:srgbClr val="FFFFFF"/>
                </a:solidFill>
              </a:defRPr>
            </a:lvl1pPr>
            <a:lvl2pPr marL="800100" indent="-342900">
              <a:buFont typeface="Lucida Grande"/>
              <a:buChar char="−"/>
              <a:defRPr sz="2200">
                <a:solidFill>
                  <a:srgbClr val="FFFFFF"/>
                </a:solidFill>
              </a:defRPr>
            </a:lvl2pPr>
            <a:lvl3pPr marL="1371600" indent="-457200">
              <a:buFont typeface="Arial"/>
              <a:buChar char="•"/>
              <a:defRPr sz="2000">
                <a:solidFill>
                  <a:srgbClr val="FFFFFF"/>
                </a:solidFill>
              </a:defRPr>
            </a:lvl3pPr>
            <a:lvl4pPr marL="1371600" indent="0">
              <a:buNone/>
              <a:defRPr sz="1400">
                <a:solidFill>
                  <a:srgbClr val="FFFFFF"/>
                </a:solidFill>
              </a:defRPr>
            </a:lvl4pPr>
            <a:lvl5pPr marL="1828800" indent="0">
              <a:buNone/>
              <a:defRPr sz="1400">
                <a:solidFill>
                  <a:srgbClr val="FFFFFF"/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1020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400"/>
            </a:lvl1pPr>
            <a:lvl2pPr>
              <a:buClrTx/>
              <a:defRPr sz="2200"/>
            </a:lvl2pPr>
            <a:lvl3pPr>
              <a:buClrTx/>
              <a:defRPr sz="2000"/>
            </a:lvl3pPr>
            <a:lvl4pPr>
              <a:buClrTx/>
              <a:defRPr sz="1800">
                <a:solidFill>
                  <a:srgbClr val="FFFFFF"/>
                </a:solidFill>
              </a:defRPr>
            </a:lvl4pPr>
            <a:lvl5pPr>
              <a:buClrTx/>
              <a:defRPr sz="1800">
                <a:solidFill>
                  <a:srgbClr val="FFFF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400"/>
            </a:lvl1pPr>
            <a:lvl2pPr>
              <a:buClrTx/>
              <a:defRPr sz="2400"/>
            </a:lvl2pPr>
            <a:lvl3pPr marL="1257300" indent="-342900">
              <a:buClrTx/>
              <a:buFont typeface="Arial"/>
              <a:buChar char="•"/>
              <a:defRPr lang="en-US" dirty="0" smtClean="0"/>
            </a:lvl3pPr>
            <a:lvl4pPr>
              <a:buClrTx/>
              <a:defRPr sz="1800">
                <a:solidFill>
                  <a:srgbClr val="FFFFFF"/>
                </a:solidFill>
              </a:defRPr>
            </a:lvl4pPr>
            <a:lvl5pPr>
              <a:buClrTx/>
              <a:defRPr sz="1800">
                <a:solidFill>
                  <a:srgbClr val="FFFF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title" idx="4294967295"/>
          </p:nvPr>
        </p:nvSpPr>
        <p:spPr>
          <a:xfrm>
            <a:off x="-8355" y="217256"/>
            <a:ext cx="9144000" cy="49299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415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400"/>
            </a:lvl1pPr>
            <a:lvl2pPr>
              <a:buClrTx/>
              <a:defRPr sz="2000"/>
            </a:lvl2pPr>
            <a:lvl3pPr>
              <a:buClrTx/>
              <a:defRPr sz="1800"/>
            </a:lvl3pPr>
            <a:lvl4pPr>
              <a:buClrTx/>
              <a:defRPr sz="1600">
                <a:solidFill>
                  <a:srgbClr val="FFFFFF"/>
                </a:solidFill>
              </a:defRPr>
            </a:lvl4pPr>
            <a:lvl5pPr>
              <a:buClrTx/>
              <a:defRPr sz="1600">
                <a:solidFill>
                  <a:srgbClr val="FFFF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Font typeface="Arial"/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400"/>
            </a:lvl1pPr>
            <a:lvl2pPr>
              <a:buClrTx/>
              <a:defRPr sz="2000"/>
            </a:lvl2pPr>
            <a:lvl3pPr>
              <a:buClrTx/>
              <a:defRPr sz="1800"/>
            </a:lvl3pPr>
            <a:lvl4pPr>
              <a:buClrTx/>
              <a:defRPr sz="1600">
                <a:solidFill>
                  <a:srgbClr val="FFFFFF"/>
                </a:solidFill>
              </a:defRPr>
            </a:lvl4pPr>
            <a:lvl5pPr>
              <a:buClrTx/>
              <a:defRPr sz="1600">
                <a:solidFill>
                  <a:srgbClr val="FFFF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title" idx="4294967295"/>
          </p:nvPr>
        </p:nvSpPr>
        <p:spPr>
          <a:xfrm>
            <a:off x="-8355" y="217256"/>
            <a:ext cx="9144000" cy="49299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459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Grp="1" noChangeArrowheads="1"/>
          </p:cNvSpPr>
          <p:nvPr>
            <p:ph type="title" idx="4294967295"/>
          </p:nvPr>
        </p:nvSpPr>
        <p:spPr>
          <a:xfrm>
            <a:off x="-8355" y="217256"/>
            <a:ext cx="9144000" cy="49299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3644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400"/>
            </a:lvl1pPr>
            <a:lvl2pPr>
              <a:buClrTx/>
              <a:defRPr sz="2200"/>
            </a:lvl2pPr>
            <a:lvl3pPr>
              <a:buClrTx/>
              <a:defRPr sz="2000"/>
            </a:lvl3pPr>
            <a:lvl4pPr>
              <a:buClrTx/>
              <a:defRPr sz="2000">
                <a:solidFill>
                  <a:srgbClr val="FFFFFF"/>
                </a:solidFill>
              </a:defRPr>
            </a:lvl4pPr>
            <a:lvl5pPr>
              <a:buClrTx/>
              <a:defRPr sz="2000">
                <a:solidFill>
                  <a:srgbClr val="FFFFFF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1719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4802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PowerPoint_Template_page_2012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25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5" descr="Cover_energy__gradien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06463"/>
            <a:ext cx="9144000" cy="551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2" descr="ASI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8013" y="6464300"/>
            <a:ext cx="1909762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14"/>
          <p:cNvSpPr txBox="1">
            <a:spLocks noChangeArrowheads="1"/>
          </p:cNvSpPr>
          <p:nvPr userDrawn="1"/>
        </p:nvSpPr>
        <p:spPr bwMode="auto">
          <a:xfrm>
            <a:off x="2892425" y="6532563"/>
            <a:ext cx="3359150" cy="2159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1" dirty="0">
                <a:solidFill>
                  <a:srgbClr val="FFFFFF"/>
                </a:solidFill>
                <a:latin typeface="Century Gothic" charset="0"/>
                <a:cs typeface="Century Gothic" charset="0"/>
              </a:rPr>
              <a:t>Aeronautical Systems Proprietary Information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914400"/>
          </a:xfrm>
          <a:prstGeom prst="rect">
            <a:avLst/>
          </a:prstGeom>
        </p:spPr>
        <p:txBody>
          <a:bodyPr/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48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Char char="•"/>
              <a:tabLst/>
              <a:defRPr/>
            </a:lvl1pPr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title" idx="4294967295"/>
          </p:nvPr>
        </p:nvSpPr>
        <p:spPr>
          <a:xfrm>
            <a:off x="-8355" y="217256"/>
            <a:ext cx="9144000" cy="49299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349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Char char="•"/>
              <a:tabLst/>
              <a:defRPr sz="2400">
                <a:solidFill>
                  <a:schemeClr val="tx1"/>
                </a:solidFill>
              </a:defRPr>
            </a:lvl1pPr>
            <a:lvl2pPr marL="800100" indent="-342900">
              <a:buFont typeface="Lucida Grande"/>
              <a:buChar char="−"/>
              <a:defRPr sz="2200">
                <a:solidFill>
                  <a:srgbClr val="000000"/>
                </a:solidFill>
              </a:defRPr>
            </a:lvl2pPr>
            <a:lvl3pPr marL="1371600" indent="-457200">
              <a:buFont typeface="Arial"/>
              <a:buChar char="•"/>
              <a:defRPr sz="2000">
                <a:solidFill>
                  <a:srgbClr val="000000"/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5961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Char char="•"/>
              <a:tabLst/>
              <a:defRPr sz="2400"/>
            </a:lvl1pPr>
            <a:lvl2pPr>
              <a:defRPr sz="2200"/>
            </a:lvl2pPr>
            <a:lvl3pPr>
              <a:defRPr sz="2000"/>
            </a:lvl3pPr>
            <a:lvl4pPr>
              <a:buClr>
                <a:schemeClr val="tx2"/>
              </a:buClr>
              <a:defRPr sz="1800"/>
            </a:lvl4pPr>
            <a:lvl5pPr>
              <a:buClr>
                <a:schemeClr val="tx2"/>
              </a:buCl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Char char="•"/>
              <a:tabLst/>
              <a:defRPr sz="2400"/>
            </a:lvl1pPr>
            <a:lvl2pPr>
              <a:defRPr sz="2400"/>
            </a:lvl2pPr>
            <a:lvl3pPr marL="1257300" indent="-342900">
              <a:buFont typeface="Arial"/>
              <a:buChar char="•"/>
              <a:defRPr lang="en-US" dirty="0" smtClean="0"/>
            </a:lvl3pPr>
            <a:lvl4pPr>
              <a:buClr>
                <a:schemeClr val="tx2"/>
              </a:buClr>
              <a:defRPr sz="1800"/>
            </a:lvl4pPr>
            <a:lvl5pPr>
              <a:buClr>
                <a:schemeClr val="tx2"/>
              </a:buCl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title" idx="4294967295"/>
          </p:nvPr>
        </p:nvSpPr>
        <p:spPr>
          <a:xfrm>
            <a:off x="-8355" y="217256"/>
            <a:ext cx="9144000" cy="49299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8330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Char char="•"/>
              <a:tabLst/>
              <a:defRPr sz="2400"/>
            </a:lvl1pPr>
            <a:lvl2pPr>
              <a:defRPr sz="2000"/>
            </a:lvl2pPr>
            <a:lvl3pPr>
              <a:defRPr sz="1800"/>
            </a:lvl3pPr>
            <a:lvl4pPr>
              <a:buClr>
                <a:schemeClr val="tx2"/>
              </a:buClr>
              <a:defRPr sz="1600"/>
            </a:lvl4pPr>
            <a:lvl5pPr>
              <a:buClr>
                <a:schemeClr val="tx2"/>
              </a:buCl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Font typeface="Arial"/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Char char="•"/>
              <a:tabLst/>
              <a:defRPr sz="2400"/>
            </a:lvl1pPr>
            <a:lvl2pPr>
              <a:defRPr sz="2000"/>
            </a:lvl2pPr>
            <a:lvl3pPr>
              <a:defRPr sz="1800"/>
            </a:lvl3pPr>
            <a:lvl4pPr>
              <a:buClr>
                <a:schemeClr val="tx2"/>
              </a:buClr>
              <a:defRPr sz="1600"/>
            </a:lvl4pPr>
            <a:lvl5pPr>
              <a:buClr>
                <a:schemeClr val="tx2"/>
              </a:buCl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title" idx="4294967295"/>
          </p:nvPr>
        </p:nvSpPr>
        <p:spPr>
          <a:xfrm>
            <a:off x="-8355" y="217256"/>
            <a:ext cx="9144000" cy="49299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3157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Grp="1" noChangeArrowheads="1"/>
          </p:cNvSpPr>
          <p:nvPr>
            <p:ph type="title" idx="4294967295"/>
          </p:nvPr>
        </p:nvSpPr>
        <p:spPr>
          <a:xfrm>
            <a:off x="-8355" y="217256"/>
            <a:ext cx="9144000" cy="49299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40852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Grp="1" noChangeArrowheads="1"/>
          </p:cNvSpPr>
          <p:nvPr>
            <p:ph type="title" idx="4294967295"/>
          </p:nvPr>
        </p:nvSpPr>
        <p:spPr>
          <a:xfrm>
            <a:off x="-8355" y="217256"/>
            <a:ext cx="9144000" cy="49299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60098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400" b="1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Char char="•"/>
              <a:tabLst/>
              <a:defRPr sz="2400"/>
            </a:lvl1pPr>
            <a:lvl2pPr>
              <a:defRPr sz="2200"/>
            </a:lvl2pPr>
            <a:lvl3pPr>
              <a:defRPr sz="2000"/>
            </a:lvl3pPr>
            <a:lvl4pPr>
              <a:buClr>
                <a:schemeClr val="tx1"/>
              </a:buClr>
              <a:defRPr sz="2000"/>
            </a:lvl4pPr>
            <a:lvl5pPr>
              <a:buClr>
                <a:schemeClr val="tx1"/>
              </a:buCl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844550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594685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title" idx="4294967295"/>
          </p:nvPr>
        </p:nvSpPr>
        <p:spPr>
          <a:xfrm>
            <a:off x="-8355" y="217256"/>
            <a:ext cx="9144000" cy="49299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526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4pPr>
              <a:buClr>
                <a:schemeClr val="tx2"/>
              </a:buClr>
              <a:defRPr/>
            </a:lvl4pPr>
            <a:lvl5pPr>
              <a:buClr>
                <a:schemeClr val="tx2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849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4" descr="PredBCloud0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1438" y="898525"/>
            <a:ext cx="9286876" cy="551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10" descr="PowerPoint_Template_page_2012.png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9144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Century gothic 24 bold</a:t>
            </a:r>
          </a:p>
          <a:p>
            <a:pPr lvl="0"/>
            <a:r>
              <a:rPr lang="en-US" altLang="en-US" smtClean="0"/>
              <a:t>Century gothic 24 bold</a:t>
            </a:r>
          </a:p>
          <a:p>
            <a:pPr lvl="1"/>
            <a:r>
              <a:rPr lang="en-US" altLang="en-US" smtClean="0"/>
              <a:t>Century gothic 22</a:t>
            </a:r>
          </a:p>
          <a:p>
            <a:pPr lvl="1"/>
            <a:r>
              <a:rPr lang="en-US" altLang="en-US" smtClean="0"/>
              <a:t>Century gothic 22</a:t>
            </a:r>
          </a:p>
          <a:p>
            <a:pPr lvl="2"/>
            <a:r>
              <a:rPr lang="en-US" altLang="en-US" smtClean="0"/>
              <a:t>Century gothic 20</a:t>
            </a:r>
          </a:p>
          <a:p>
            <a:pPr lvl="2"/>
            <a:r>
              <a:rPr lang="en-US" altLang="en-US" smtClean="0"/>
              <a:t>Century gothic 20</a:t>
            </a:r>
          </a:p>
          <a:p>
            <a:pPr lvl="0"/>
            <a:r>
              <a:rPr lang="en-US" altLang="en-US" smtClean="0"/>
              <a:t>Century gothic 24 bold</a:t>
            </a:r>
          </a:p>
          <a:p>
            <a:pPr lvl="0"/>
            <a:endParaRPr lang="en-US" altLang="en-US" smtClean="0"/>
          </a:p>
          <a:p>
            <a:pPr lvl="0"/>
            <a:endParaRPr lang="en-US" altLang="en-US" smtClean="0"/>
          </a:p>
          <a:p>
            <a:pPr lvl="2"/>
            <a:endParaRPr lang="en-US" altLang="en-US" smtClean="0"/>
          </a:p>
          <a:p>
            <a:pPr lvl="0"/>
            <a:endParaRPr lang="en-US" altLang="en-US" smtClean="0"/>
          </a:p>
        </p:txBody>
      </p:sp>
      <p:sp>
        <p:nvSpPr>
          <p:cNvPr id="1030" name="Rectangle 13"/>
          <p:cNvSpPr>
            <a:spLocks noChangeArrowheads="1"/>
          </p:cNvSpPr>
          <p:nvPr userDrawn="1"/>
        </p:nvSpPr>
        <p:spPr bwMode="auto">
          <a:xfrm>
            <a:off x="0" y="6484938"/>
            <a:ext cx="838200" cy="29686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fld id="{8A1D8665-DE7F-45E4-9B0A-03AE14C214BE}" type="slidenum">
              <a:rPr lang="en-US" altLang="en-US" sz="1200" b="1" smtClean="0">
                <a:solidFill>
                  <a:schemeClr val="bg1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1400" b="1" smtClean="0"/>
          </a:p>
        </p:txBody>
      </p:sp>
      <p:pic>
        <p:nvPicPr>
          <p:cNvPr id="1031" name="Picture 12" descr="ASI.png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8013" y="6464300"/>
            <a:ext cx="1909762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14"/>
          <p:cNvSpPr txBox="1">
            <a:spLocks noChangeArrowheads="1"/>
          </p:cNvSpPr>
          <p:nvPr userDrawn="1"/>
        </p:nvSpPr>
        <p:spPr bwMode="auto">
          <a:xfrm>
            <a:off x="2892425" y="6532563"/>
            <a:ext cx="3359150" cy="2159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1" dirty="0">
                <a:solidFill>
                  <a:srgbClr val="FFFFFF"/>
                </a:solidFill>
                <a:latin typeface="Century Gothic" charset="0"/>
                <a:cs typeface="Century Gothic" charset="0"/>
              </a:rPr>
              <a:t>Aeronautical Systems Proprietary Information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3645" r:id="rId1"/>
    <p:sldLayoutId id="2147493628" r:id="rId2"/>
    <p:sldLayoutId id="2147493629" r:id="rId3"/>
    <p:sldLayoutId id="2147493630" r:id="rId4"/>
    <p:sldLayoutId id="2147493631" r:id="rId5"/>
    <p:sldLayoutId id="2147493632" r:id="rId6"/>
    <p:sldLayoutId id="2147493633" r:id="rId7"/>
    <p:sldLayoutId id="2147493634" r:id="rId8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2400" b="1" kern="1200">
          <a:solidFill>
            <a:srgbClr val="FFFFFF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entury Gothic" charset="0"/>
          <a:ea typeface="MS PGothic" panose="020B0600070205080204" pitchFamily="34" charset="-128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entury Gothic" charset="0"/>
          <a:ea typeface="MS PGothic" panose="020B0600070205080204" pitchFamily="34" charset="-128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entury Gothic" charset="0"/>
          <a:ea typeface="MS PGothic" panose="020B0600070205080204" pitchFamily="34" charset="-128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entury Gothic" charset="0"/>
          <a:ea typeface="MS PGothic" panose="020B0600070205080204" pitchFamily="34" charset="-128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entury 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entury 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entury 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entury 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b="1" kern="1200">
          <a:solidFill>
            <a:srgbClr val="FFFFFF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200" kern="1200">
          <a:solidFill>
            <a:srgbClr val="FFFFFF"/>
          </a:solidFill>
          <a:latin typeface="+mn-lt"/>
          <a:ea typeface="MS PGothic" panose="020B0600070205080204" pitchFamily="34" charset="-128"/>
          <a:cs typeface="+mn-cs"/>
        </a:defRPr>
      </a:lvl2pPr>
      <a:lvl3pPr marL="12573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rgbClr val="FFFFFF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0" descr="PowerPoint_Template_page_2012.pn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9144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205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Century gothic 24 bold</a:t>
            </a:r>
          </a:p>
          <a:p>
            <a:pPr lvl="0"/>
            <a:r>
              <a:rPr lang="en-US" altLang="en-US" smtClean="0"/>
              <a:t>Century gothic 24 bold</a:t>
            </a:r>
          </a:p>
          <a:p>
            <a:pPr lvl="1"/>
            <a:r>
              <a:rPr lang="en-US" altLang="en-US" smtClean="0"/>
              <a:t>Century gothic 22</a:t>
            </a:r>
          </a:p>
          <a:p>
            <a:pPr lvl="1"/>
            <a:r>
              <a:rPr lang="en-US" altLang="en-US" smtClean="0"/>
              <a:t>Century gothic 22</a:t>
            </a:r>
          </a:p>
          <a:p>
            <a:pPr lvl="2"/>
            <a:r>
              <a:rPr lang="en-US" altLang="en-US" smtClean="0"/>
              <a:t>Century gothic 20</a:t>
            </a:r>
          </a:p>
          <a:p>
            <a:pPr lvl="2"/>
            <a:r>
              <a:rPr lang="en-US" altLang="en-US" smtClean="0"/>
              <a:t>Century gothic 20</a:t>
            </a:r>
          </a:p>
          <a:p>
            <a:pPr lvl="0"/>
            <a:r>
              <a:rPr lang="en-US" altLang="en-US" smtClean="0"/>
              <a:t>Century gothic 24 bold</a:t>
            </a:r>
          </a:p>
          <a:p>
            <a:pPr lvl="0"/>
            <a:endParaRPr lang="en-US" altLang="en-US" smtClean="0"/>
          </a:p>
          <a:p>
            <a:pPr lvl="0"/>
            <a:endParaRPr lang="en-US" altLang="en-US" smtClean="0"/>
          </a:p>
          <a:p>
            <a:pPr lvl="2"/>
            <a:endParaRPr lang="en-US" altLang="en-US" smtClean="0"/>
          </a:p>
          <a:p>
            <a:pPr lvl="0"/>
            <a:endParaRPr lang="en-US" altLang="en-US" smtClean="0"/>
          </a:p>
        </p:txBody>
      </p:sp>
      <p:sp>
        <p:nvSpPr>
          <p:cNvPr id="1029" name="Rectangle 13"/>
          <p:cNvSpPr>
            <a:spLocks noChangeArrowheads="1"/>
          </p:cNvSpPr>
          <p:nvPr userDrawn="1"/>
        </p:nvSpPr>
        <p:spPr bwMode="auto">
          <a:xfrm>
            <a:off x="0" y="6484938"/>
            <a:ext cx="838200" cy="29686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1400" b="1"/>
          </a:p>
        </p:txBody>
      </p:sp>
      <p:sp>
        <p:nvSpPr>
          <p:cNvPr id="19" name="Text Box 14"/>
          <p:cNvSpPr txBox="1">
            <a:spLocks noChangeArrowheads="1"/>
          </p:cNvSpPr>
          <p:nvPr userDrawn="1"/>
        </p:nvSpPr>
        <p:spPr bwMode="auto">
          <a:xfrm>
            <a:off x="2892425" y="6532563"/>
            <a:ext cx="3359150" cy="2159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b="1" dirty="0">
                <a:solidFill>
                  <a:srgbClr val="FFFFFF"/>
                </a:solidFill>
                <a:latin typeface="Century Gothic" charset="0"/>
                <a:cs typeface="Century Gothic" charset="0"/>
              </a:rPr>
              <a:t>Aeronautical Systems Proprietary Information</a:t>
            </a:r>
          </a:p>
        </p:txBody>
      </p:sp>
      <p:sp>
        <p:nvSpPr>
          <p:cNvPr id="1031" name="Rectangle 13"/>
          <p:cNvSpPr>
            <a:spLocks noChangeArrowheads="1"/>
          </p:cNvSpPr>
          <p:nvPr userDrawn="1"/>
        </p:nvSpPr>
        <p:spPr bwMode="auto">
          <a:xfrm>
            <a:off x="0" y="6484938"/>
            <a:ext cx="838200" cy="29686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fld id="{9F528CB5-8F02-4A87-9C3E-2D24CD112110}" type="slidenum">
              <a:rPr lang="en-US" altLang="en-US" sz="1200" b="1" smtClean="0">
                <a:solidFill>
                  <a:schemeClr val="bg1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1400" b="1" smtClean="0"/>
          </a:p>
        </p:txBody>
      </p:sp>
      <p:pic>
        <p:nvPicPr>
          <p:cNvPr id="2056" name="Picture 12" descr="ASI.png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8013" y="6464300"/>
            <a:ext cx="1909762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3646" r:id="rId1"/>
    <p:sldLayoutId id="2147493635" r:id="rId2"/>
    <p:sldLayoutId id="2147493636" r:id="rId3"/>
    <p:sldLayoutId id="2147493637" r:id="rId4"/>
    <p:sldLayoutId id="2147493638" r:id="rId5"/>
    <p:sldLayoutId id="2147493639" r:id="rId6"/>
    <p:sldLayoutId id="2147493640" r:id="rId7"/>
    <p:sldLayoutId id="2147493641" r:id="rId8"/>
    <p:sldLayoutId id="2147493642" r:id="rId9"/>
    <p:sldLayoutId id="2147493643" r:id="rId10"/>
    <p:sldLayoutId id="2147493644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2400" b="1" kern="1200">
          <a:solidFill>
            <a:srgbClr val="FFFFFF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entury Gothic" charset="0"/>
          <a:ea typeface="MS PGothic" panose="020B0600070205080204" pitchFamily="34" charset="-128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entury Gothic" charset="0"/>
          <a:ea typeface="MS PGothic" panose="020B0600070205080204" pitchFamily="34" charset="-128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entury Gothic" charset="0"/>
          <a:ea typeface="MS PGothic" panose="020B0600070205080204" pitchFamily="34" charset="-128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entury Gothic" charset="0"/>
          <a:ea typeface="MS PGothic" panose="020B0600070205080204" pitchFamily="34" charset="-128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entury 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entury 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entury 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Century 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2400" b="1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257300" indent="-342900" algn="l" defTabSz="457200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z="3000" smtClean="0"/>
              <a:t>Software Intern Presentation</a:t>
            </a:r>
          </a:p>
        </p:txBody>
      </p:sp>
      <p:pic>
        <p:nvPicPr>
          <p:cNvPr id="6147" name="Content Placeholder 4" descr="GA_ASI_Cover_GeneralCompanyCover02_Draft01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914400"/>
            <a:ext cx="9142413" cy="5514975"/>
          </a:xfrm>
        </p:spPr>
      </p:pic>
      <p:sp>
        <p:nvSpPr>
          <p:cNvPr id="6148" name="Rectangle 3"/>
          <p:cNvSpPr>
            <a:spLocks noChangeArrowheads="1"/>
          </p:cNvSpPr>
          <p:nvPr/>
        </p:nvSpPr>
        <p:spPr bwMode="auto">
          <a:xfrm>
            <a:off x="2978150" y="3660775"/>
            <a:ext cx="23860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2400" b="1">
                <a:solidFill>
                  <a:srgbClr val="FFFFFF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rgbClr val="FFFFFF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 lvl="1"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bg1"/>
                </a:solidFill>
              </a:rPr>
              <a:t>Amy Tam</a:t>
            </a:r>
          </a:p>
          <a:p>
            <a:pPr lvl="1"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bg1"/>
                </a:solidFill>
              </a:rPr>
              <a:t>August 13, 2020</a:t>
            </a:r>
          </a:p>
        </p:txBody>
      </p:sp>
      <p:sp>
        <p:nvSpPr>
          <p:cNvPr id="6149" name="Rectangle 4"/>
          <p:cNvSpPr>
            <a:spLocks noChangeArrowheads="1"/>
          </p:cNvSpPr>
          <p:nvPr/>
        </p:nvSpPr>
        <p:spPr bwMode="auto">
          <a:xfrm>
            <a:off x="1049256" y="2747963"/>
            <a:ext cx="704391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400" b="1">
                <a:solidFill>
                  <a:srgbClr val="FFFFFF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rgbClr val="FFFFFF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dirty="0" smtClean="0">
                <a:solidFill>
                  <a:schemeClr val="bg1"/>
                </a:solidFill>
              </a:rPr>
              <a:t>Assisting Move of Non-Flight Critical Software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dirty="0" smtClean="0">
                <a:solidFill>
                  <a:schemeClr val="bg1"/>
                </a:solidFill>
              </a:rPr>
              <a:t>to the ICM (Interface and Computing Module)</a:t>
            </a:r>
            <a:endParaRPr lang="en-US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403351"/>
            <a:ext cx="8084820" cy="1865630"/>
          </a:xfrm>
        </p:spPr>
        <p:txBody>
          <a:bodyPr/>
          <a:lstStyle/>
          <a:p>
            <a:pPr marL="0" indent="0" fontAlgn="base"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dirty="0" smtClean="0">
                <a:latin typeface="+mj-lt"/>
                <a:cs typeface="Arial" panose="020B0604020202020204" pitchFamily="34" charset="0"/>
              </a:rPr>
              <a:t>About Me:</a:t>
            </a:r>
            <a:endParaRPr lang="en-US" altLang="en-US" strike="sngStrike" dirty="0" smtClean="0">
              <a:solidFill>
                <a:srgbClr val="FF0000"/>
              </a:solidFill>
              <a:latin typeface="+mj-lt"/>
              <a:cs typeface="Arial" panose="020B0604020202020204" pitchFamily="34" charset="0"/>
            </a:endParaRPr>
          </a:p>
          <a:p>
            <a:pPr lvl="1" eaLnBrk="1" hangingPunct="1"/>
            <a:r>
              <a:rPr lang="en-US" altLang="en-US" dirty="0" smtClean="0">
                <a:latin typeface="+mj-lt"/>
                <a:cs typeface="Arial" panose="020B0604020202020204" pitchFamily="34" charset="0"/>
              </a:rPr>
              <a:t>Harvey </a:t>
            </a:r>
            <a:r>
              <a:rPr lang="en-US" altLang="en-US" dirty="0" err="1" smtClean="0">
                <a:latin typeface="+mj-lt"/>
                <a:cs typeface="Arial" panose="020B0604020202020204" pitchFamily="34" charset="0"/>
              </a:rPr>
              <a:t>Mudd</a:t>
            </a:r>
            <a:r>
              <a:rPr lang="en-US" altLang="en-US" dirty="0" smtClean="0">
                <a:latin typeface="+mj-lt"/>
                <a:cs typeface="Arial" panose="020B0604020202020204" pitchFamily="34" charset="0"/>
              </a:rPr>
              <a:t> College </a:t>
            </a:r>
          </a:p>
          <a:p>
            <a:pPr lvl="1" eaLnBrk="1" hangingPunct="1"/>
            <a:r>
              <a:rPr lang="en-US" altLang="en-US" dirty="0" smtClean="0">
                <a:latin typeface="+mj-lt"/>
                <a:cs typeface="Arial" panose="020B0604020202020204" pitchFamily="34" charset="0"/>
              </a:rPr>
              <a:t>Incoming Sophomore (Graduating in May 2023)</a:t>
            </a:r>
          </a:p>
          <a:p>
            <a:pPr lvl="1" eaLnBrk="1" hangingPunct="1"/>
            <a:r>
              <a:rPr lang="en-US" altLang="en-US" dirty="0" smtClean="0">
                <a:latin typeface="+mj-lt"/>
                <a:cs typeface="Arial" panose="020B0604020202020204" pitchFamily="34" charset="0"/>
              </a:rPr>
              <a:t>Computer Science Major</a:t>
            </a:r>
          </a:p>
          <a:p>
            <a:pPr lvl="2" eaLnBrk="1" hangingPunct="1"/>
            <a:endParaRPr lang="en-US" altLang="en-US" dirty="0" smtClean="0">
              <a:latin typeface="+mj-lt"/>
              <a:cs typeface="Arial" panose="020B0604020202020204" pitchFamily="34" charset="0"/>
            </a:endParaRPr>
          </a:p>
          <a:p>
            <a:pPr marL="0" indent="0" fontAlgn="base"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dirty="0" smtClean="0"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6839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dirty="0" smtClean="0"/>
              <a:t>Program – Army Software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 smtClean="0"/>
              <a:t>Manager – Jon Wahlmann</a:t>
            </a:r>
          </a:p>
          <a:p>
            <a:pPr marL="0" indent="0" fontAlgn="base"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dirty="0" smtClean="0"/>
          </a:p>
          <a:p>
            <a:pPr marL="0" indent="0" fontAlgn="base"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dirty="0" smtClean="0"/>
              <a:t>Modernization (Gray Eagle -30)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 smtClean="0"/>
              <a:t>Mentors – Anthony Graca &amp; JJ Krakowski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altLang="en-US" dirty="0" smtClean="0"/>
          </a:p>
        </p:txBody>
      </p:sp>
      <p:sp>
        <p:nvSpPr>
          <p:cNvPr id="8195" name="Title 4"/>
          <p:cNvSpPr>
            <a:spLocks noGrp="1"/>
          </p:cNvSpPr>
          <p:nvPr>
            <p:ph type="title" idx="4294967295"/>
          </p:nvPr>
        </p:nvSpPr>
        <p:spPr>
          <a:xfrm>
            <a:off x="-7938" y="217488"/>
            <a:ext cx="9144001" cy="492125"/>
          </a:xfrm>
        </p:spPr>
        <p:txBody>
          <a:bodyPr/>
          <a:lstStyle/>
          <a:p>
            <a:r>
              <a:rPr lang="en-US" altLang="en-US" smtClean="0"/>
              <a:t>Administrative Information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523875" y="4206875"/>
            <a:ext cx="8080375" cy="1730375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lvl="1" eaLnBrk="1" hangingPunct="1">
              <a:defRPr/>
            </a:pPr>
            <a:r>
              <a:rPr lang="en-US" altLang="en-US" b="1" dirty="0">
                <a:solidFill>
                  <a:schemeClr val="tx1"/>
                </a:solidFill>
              </a:rPr>
              <a:t>Area of Focus</a:t>
            </a:r>
          </a:p>
          <a:p>
            <a:pPr marL="742950" lvl="1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dirty="0">
                <a:solidFill>
                  <a:schemeClr val="tx1"/>
                </a:solidFill>
              </a:rPr>
              <a:t>Unit </a:t>
            </a:r>
            <a:r>
              <a:rPr lang="en-US" altLang="en-US" dirty="0" smtClean="0">
                <a:solidFill>
                  <a:schemeClr val="tx1"/>
                </a:solidFill>
              </a:rPr>
              <a:t>Testing a Part of </a:t>
            </a:r>
            <a:r>
              <a:rPr lang="en-US" altLang="en-US" dirty="0">
                <a:solidFill>
                  <a:schemeClr val="tx1"/>
                </a:solidFill>
              </a:rPr>
              <a:t>FCM (Flight Control Module)</a:t>
            </a:r>
          </a:p>
          <a:p>
            <a:pPr marL="742950" lvl="1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dirty="0">
                <a:solidFill>
                  <a:schemeClr val="tx1"/>
                </a:solidFill>
              </a:rPr>
              <a:t>Documentation for project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Background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457199" y="1403350"/>
            <a:ext cx="8633461" cy="4525963"/>
          </a:xfrm>
        </p:spPr>
        <p:txBody>
          <a:bodyPr/>
          <a:lstStyle/>
          <a:p>
            <a:pPr marL="0" indent="0" fontAlgn="base"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dirty="0" smtClean="0">
                <a:latin typeface="+mj-lt"/>
                <a:cs typeface="Arial" panose="020B0604020202020204" pitchFamily="34" charset="0"/>
              </a:rPr>
              <a:t>Challenges Preventing Software Development</a:t>
            </a:r>
            <a:endParaRPr lang="en-US" altLang="en-US" strike="sngStrike" dirty="0" smtClean="0">
              <a:solidFill>
                <a:srgbClr val="FF0000"/>
              </a:solidFill>
              <a:latin typeface="+mj-lt"/>
              <a:cs typeface="Arial" panose="020B0604020202020204" pitchFamily="34" charset="0"/>
            </a:endParaRPr>
          </a:p>
          <a:p>
            <a:pPr lvl="1" eaLnBrk="1" hangingPunct="1"/>
            <a:r>
              <a:rPr lang="en-US" altLang="en-US" dirty="0" smtClean="0">
                <a:latin typeface="+mj-lt"/>
                <a:cs typeface="Arial" panose="020B0604020202020204" pitchFamily="34" charset="0"/>
              </a:rPr>
              <a:t>Running out of space on current hardware, RCM (Redundant Control Module)</a:t>
            </a:r>
          </a:p>
          <a:p>
            <a:pPr lvl="2" eaLnBrk="1" hangingPunct="1"/>
            <a:r>
              <a:rPr lang="en-US" altLang="en-US" dirty="0" smtClean="0">
                <a:latin typeface="+mj-lt"/>
                <a:cs typeface="Arial" panose="020B0604020202020204" pitchFamily="34" charset="0"/>
              </a:rPr>
              <a:t>Prevents us from adding new features to DFCS software</a:t>
            </a:r>
          </a:p>
          <a:p>
            <a:pPr lvl="2" eaLnBrk="1" hangingPunct="1"/>
            <a:r>
              <a:rPr lang="en-US" altLang="en-US" dirty="0" smtClean="0">
                <a:latin typeface="+mj-lt"/>
                <a:cs typeface="Arial" panose="020B0604020202020204" pitchFamily="34" charset="0"/>
              </a:rPr>
              <a:t>Only solution is to take out features from DFCS </a:t>
            </a:r>
          </a:p>
          <a:p>
            <a:pPr lvl="1" eaLnBrk="1" hangingPunct="1"/>
            <a:endParaRPr lang="en-US" altLang="en-US" sz="1000" dirty="0" smtClean="0">
              <a:latin typeface="+mj-lt"/>
              <a:cs typeface="Arial" panose="020B0604020202020204" pitchFamily="34" charset="0"/>
            </a:endParaRPr>
          </a:p>
          <a:p>
            <a:pPr marL="0" indent="0" fontAlgn="base"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dirty="0" smtClean="0">
                <a:latin typeface="+mj-lt"/>
                <a:cs typeface="Arial" panose="020B0604020202020204" pitchFamily="34" charset="0"/>
              </a:rPr>
              <a:t>Current Status</a:t>
            </a:r>
          </a:p>
          <a:p>
            <a:pPr lvl="1" eaLnBrk="1" hangingPunct="1"/>
            <a:r>
              <a:rPr lang="en-US" altLang="en-US" dirty="0" smtClean="0">
                <a:latin typeface="+mj-lt"/>
                <a:cs typeface="Arial" panose="020B0604020202020204" pitchFamily="34" charset="0"/>
              </a:rPr>
              <a:t>Moving functions to other boxes</a:t>
            </a:r>
          </a:p>
          <a:p>
            <a:pPr lvl="2" eaLnBrk="1" hangingPunct="1"/>
            <a:r>
              <a:rPr lang="en-US" altLang="en-US" dirty="0" smtClean="0">
                <a:latin typeface="+mj-lt"/>
                <a:cs typeface="Arial" panose="020B0604020202020204" pitchFamily="34" charset="0"/>
              </a:rPr>
              <a:t>Moving non-flight critical modules from FCM to ICM</a:t>
            </a:r>
          </a:p>
          <a:p>
            <a:pPr lvl="2" eaLnBrk="1" hangingPunct="1"/>
            <a:r>
              <a:rPr lang="en-US" altLang="en-US" dirty="0" smtClean="0">
                <a:latin typeface="+mj-lt"/>
                <a:cs typeface="Arial" panose="020B0604020202020204" pitchFamily="34" charset="0"/>
              </a:rPr>
              <a:t>FCM should focus on only flight critical tasks</a:t>
            </a:r>
          </a:p>
          <a:p>
            <a:pPr lvl="1" eaLnBrk="1" hangingPunct="1"/>
            <a:r>
              <a:rPr lang="en-US" altLang="en-US" dirty="0" smtClean="0">
                <a:cs typeface="Arial" panose="020B0604020202020204" pitchFamily="34" charset="0"/>
              </a:rPr>
              <a:t>However, FCM </a:t>
            </a:r>
            <a:r>
              <a:rPr lang="en-US" altLang="en-US" dirty="0">
                <a:cs typeface="Arial" panose="020B0604020202020204" pitchFamily="34" charset="0"/>
              </a:rPr>
              <a:t>and ICM </a:t>
            </a:r>
            <a:r>
              <a:rPr lang="en-US" altLang="en-US" dirty="0" smtClean="0">
                <a:cs typeface="Arial" panose="020B0604020202020204" pitchFamily="34" charset="0"/>
              </a:rPr>
              <a:t>hardware still </a:t>
            </a:r>
            <a:r>
              <a:rPr lang="en-US" altLang="en-US" dirty="0">
                <a:cs typeface="Arial" panose="020B0604020202020204" pitchFamily="34" charset="0"/>
              </a:rPr>
              <a:t>in development</a:t>
            </a:r>
            <a:endParaRPr lang="en-US" altLang="en-US" strike="sngStrike" dirty="0">
              <a:cs typeface="Arial" panose="020B0604020202020204" pitchFamily="34" charset="0"/>
            </a:endParaRPr>
          </a:p>
          <a:p>
            <a:pPr lvl="2" eaLnBrk="1" hangingPunct="1"/>
            <a:r>
              <a:rPr lang="en-US" altLang="en-US" dirty="0" smtClean="0">
                <a:cs typeface="Arial" panose="020B0604020202020204" pitchFamily="34" charset="0"/>
              </a:rPr>
              <a:t>Need to develop SW without </a:t>
            </a:r>
            <a:r>
              <a:rPr lang="en-US" altLang="en-US" dirty="0">
                <a:cs typeface="Arial" panose="020B0604020202020204" pitchFamily="34" charset="0"/>
              </a:rPr>
              <a:t>hardware to meet schedule</a:t>
            </a:r>
          </a:p>
          <a:p>
            <a:pPr marL="914400" lvl="2" indent="0" eaLnBrk="1" hangingPunct="1">
              <a:buNone/>
            </a:pPr>
            <a:endParaRPr lang="en-US" altLang="en-US" dirty="0" smtClean="0">
              <a:latin typeface="+mj-lt"/>
              <a:cs typeface="Arial" panose="020B0604020202020204" pitchFamily="34" charset="0"/>
            </a:endParaRPr>
          </a:p>
          <a:p>
            <a:pPr marL="0" indent="0" fontAlgn="base"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dirty="0" smtClean="0">
              <a:latin typeface="+mj-lt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Background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74" y="1986349"/>
            <a:ext cx="4992527" cy="302399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7009" y="2171015"/>
            <a:ext cx="4976991" cy="291484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48460" y="1910834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Current: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184862" y="1986349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Future:</a:t>
            </a:r>
            <a:endParaRPr lang="en-US" dirty="0"/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4090809" y="3229957"/>
            <a:ext cx="678180" cy="2286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5880" y="5251299"/>
            <a:ext cx="28584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DFCS: Digital Flight Control Software</a:t>
            </a:r>
          </a:p>
          <a:p>
            <a:r>
              <a:rPr lang="en-US" sz="1200" dirty="0" smtClean="0"/>
              <a:t>RCM: Redundant Control Module</a:t>
            </a:r>
          </a:p>
          <a:p>
            <a:r>
              <a:rPr lang="en-US" sz="1200" dirty="0" smtClean="0"/>
              <a:t>PCC: Payload Control Computer</a:t>
            </a:r>
          </a:p>
          <a:p>
            <a:r>
              <a:rPr lang="en-US" sz="1200" dirty="0" smtClean="0"/>
              <a:t>DPC: Data Payload Computer</a:t>
            </a:r>
            <a:endParaRPr lang="en-US" sz="1200" dirty="0"/>
          </a:p>
        </p:txBody>
      </p:sp>
      <p:sp>
        <p:nvSpPr>
          <p:cNvPr id="17" name="TextBox 16"/>
          <p:cNvSpPr txBox="1"/>
          <p:nvPr/>
        </p:nvSpPr>
        <p:spPr>
          <a:xfrm>
            <a:off x="4768989" y="5292066"/>
            <a:ext cx="31101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EFC: Eagle Flight Computer</a:t>
            </a:r>
          </a:p>
          <a:p>
            <a:r>
              <a:rPr lang="en-US" sz="1200" dirty="0" smtClean="0"/>
              <a:t>FCM: Flight Control Module</a:t>
            </a:r>
          </a:p>
          <a:p>
            <a:r>
              <a:rPr lang="en-US" sz="1200" dirty="0" smtClean="0"/>
              <a:t>ICM: Interface and Computing Module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13699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Tasks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457200" y="1403350"/>
            <a:ext cx="8404860" cy="4525963"/>
          </a:xfrm>
        </p:spPr>
        <p:txBody>
          <a:bodyPr/>
          <a:lstStyle/>
          <a:p>
            <a:pPr marL="0" indent="0" fontAlgn="base">
              <a:spcAft>
                <a:spcPct val="0"/>
              </a:spcAft>
              <a:buFont typeface="Arial"/>
              <a:buNone/>
              <a:defRPr/>
            </a:pPr>
            <a:r>
              <a:rPr lang="en-US" altLang="en-US" dirty="0" smtClean="0"/>
              <a:t>Verify a Part of DFCS</a:t>
            </a:r>
            <a:endParaRPr lang="en-US" altLang="en-US" dirty="0" smtClean="0">
              <a:solidFill>
                <a:srgbClr val="FF0000"/>
              </a:solidFill>
            </a:endParaRPr>
          </a:p>
          <a:p>
            <a:pPr lvl="1" eaLnBrk="1" hangingPunct="1">
              <a:defRPr/>
            </a:pPr>
            <a:r>
              <a:rPr lang="en-US" altLang="en-US" dirty="0" smtClean="0"/>
              <a:t>Prepare to m</a:t>
            </a:r>
            <a:r>
              <a:rPr lang="en-US" altLang="en-US" dirty="0"/>
              <a:t>ove non-flight critical modules </a:t>
            </a:r>
            <a:r>
              <a:rPr lang="en-US" altLang="en-US" dirty="0" smtClean="0"/>
              <a:t>to ICM</a:t>
            </a:r>
          </a:p>
          <a:p>
            <a:pPr lvl="2" eaLnBrk="1" hangingPunct="1">
              <a:defRPr/>
            </a:pPr>
            <a:r>
              <a:rPr lang="en-US" altLang="en-US" dirty="0" smtClean="0"/>
              <a:t>Nose Camera, Infrared Beacons, and Daylight Camera</a:t>
            </a:r>
          </a:p>
          <a:p>
            <a:pPr lvl="1">
              <a:defRPr/>
            </a:pPr>
            <a:r>
              <a:rPr lang="en-US" altLang="en-US" dirty="0" smtClean="0"/>
              <a:t>Use unit testing to directly check functionality</a:t>
            </a:r>
          </a:p>
          <a:p>
            <a:pPr lvl="2">
              <a:defRPr/>
            </a:pPr>
            <a:r>
              <a:rPr lang="en-US" altLang="en-US" dirty="0" smtClean="0"/>
              <a:t>When modules are moved, tests should pass in ICM</a:t>
            </a:r>
            <a:endParaRPr lang="en-US" altLang="en-US" dirty="0"/>
          </a:p>
          <a:p>
            <a:pPr marL="0" indent="0" fontAlgn="base">
              <a:spcAft>
                <a:spcPct val="0"/>
              </a:spcAft>
              <a:buFont typeface="Arial"/>
              <a:buNone/>
              <a:defRPr/>
            </a:pPr>
            <a:endParaRPr lang="en-US" altLang="en-US" sz="1000" dirty="0" smtClean="0"/>
          </a:p>
          <a:p>
            <a:pPr marL="0" indent="0" fontAlgn="base">
              <a:spcAft>
                <a:spcPct val="0"/>
              </a:spcAft>
              <a:buFont typeface="Arial"/>
              <a:buNone/>
              <a:defRPr/>
            </a:pPr>
            <a:r>
              <a:rPr lang="en-US" altLang="en-US" dirty="0" smtClean="0"/>
              <a:t>Documentation </a:t>
            </a:r>
            <a:endParaRPr lang="en-US" altLang="en-US" dirty="0"/>
          </a:p>
          <a:p>
            <a:pPr lvl="1" eaLnBrk="1" hangingPunct="1">
              <a:defRPr/>
            </a:pPr>
            <a:r>
              <a:rPr lang="en-US" altLang="en-US" dirty="0" smtClean="0"/>
              <a:t>Using automated software unit testing with the </a:t>
            </a:r>
            <a:r>
              <a:rPr lang="en-US" altLang="en-US" dirty="0" err="1" smtClean="0"/>
              <a:t>xUnit</a:t>
            </a:r>
            <a:r>
              <a:rPr lang="en-US" altLang="en-US" dirty="0" smtClean="0"/>
              <a:t> testing framework </a:t>
            </a:r>
          </a:p>
          <a:p>
            <a:pPr lvl="1" eaLnBrk="1" hangingPunct="1">
              <a:defRPr/>
            </a:pPr>
            <a:r>
              <a:rPr lang="en-US" altLang="en-US" dirty="0" smtClean="0"/>
              <a:t>Using Jenkins as a Continuous Integration server</a:t>
            </a:r>
          </a:p>
          <a:p>
            <a:pPr fontAlgn="base"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  <a:p>
            <a:pPr fontAlgn="base"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en-US" altLang="en-US" dirty="0" smtClean="0"/>
          </a:p>
        </p:txBody>
      </p:sp>
      <p:sp>
        <p:nvSpPr>
          <p:cNvPr id="4" name="Rectangle 3"/>
          <p:cNvSpPr/>
          <p:nvPr/>
        </p:nvSpPr>
        <p:spPr>
          <a:xfrm>
            <a:off x="-731520" y="5890043"/>
            <a:ext cx="99364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eaLnBrk="1" hangingPunct="1"/>
            <a:r>
              <a:rPr lang="en-US" altLang="en-US" sz="1400" dirty="0" smtClean="0">
                <a:cs typeface="Arial" panose="020B0604020202020204" pitchFamily="34" charset="0"/>
              </a:rPr>
              <a:t>*Unit Testing: Code </a:t>
            </a:r>
            <a:r>
              <a:rPr lang="en-US" altLang="en-US" sz="1400" dirty="0">
                <a:cs typeface="Arial" panose="020B0604020202020204" pitchFamily="34" charset="0"/>
              </a:rPr>
              <a:t>which verifies behavior and passes or fails the result </a:t>
            </a:r>
            <a:r>
              <a:rPr lang="en-US" altLang="en-US" sz="1400" dirty="0" smtClean="0">
                <a:cs typeface="Arial" panose="020B0604020202020204" pitchFamily="34" charset="0"/>
              </a:rPr>
              <a:t>to identify </a:t>
            </a:r>
            <a:r>
              <a:rPr lang="en-US" altLang="en-US" sz="1400" dirty="0">
                <a:cs typeface="Arial" panose="020B0604020202020204" pitchFamily="34" charset="0"/>
              </a:rPr>
              <a:t>bugs or loopholes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ontent Placeholder 3"/>
          <p:cNvSpPr>
            <a:spLocks noGrp="1"/>
          </p:cNvSpPr>
          <p:nvPr>
            <p:ph idx="1"/>
          </p:nvPr>
        </p:nvSpPr>
        <p:spPr>
          <a:xfrm>
            <a:off x="1805623" y="3114040"/>
            <a:ext cx="5509577" cy="904875"/>
          </a:xfrm>
        </p:spPr>
        <p:txBody>
          <a:bodyPr/>
          <a:lstStyle/>
          <a:p>
            <a:pPr marL="0" indent="0" algn="ctr" fontAlgn="base"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dirty="0" smtClean="0"/>
              <a:t>How to safely move features from the DFCS to the ICM?</a:t>
            </a:r>
          </a:p>
        </p:txBody>
      </p:sp>
    </p:spTree>
    <p:extLst>
      <p:ext uri="{BB962C8B-B14F-4D97-AF65-F5344CB8AC3E}">
        <p14:creationId xmlns:p14="http://schemas.microsoft.com/office/powerpoint/2010/main" val="2412409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Methodology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457200" y="1403351"/>
            <a:ext cx="8229600" cy="4151630"/>
          </a:xfrm>
        </p:spPr>
        <p:txBody>
          <a:bodyPr/>
          <a:lstStyle/>
          <a:p>
            <a:pPr marL="0" indent="0" fontAlgn="base"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dirty="0" smtClean="0">
                <a:cs typeface="Arial" panose="020B0604020202020204" pitchFamily="34" charset="0"/>
              </a:rPr>
              <a:t>How to move code safely</a:t>
            </a:r>
            <a:endParaRPr lang="en-US" altLang="en-US" strike="sngStrike" dirty="0" smtClean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lvl="1" eaLnBrk="1" hangingPunct="1"/>
            <a:r>
              <a:rPr lang="en-US" altLang="en-US" dirty="0" smtClean="0">
                <a:cs typeface="Arial" panose="020B0604020202020204" pitchFamily="34" charset="0"/>
              </a:rPr>
              <a:t>Verify functionality through unit testing</a:t>
            </a:r>
          </a:p>
          <a:p>
            <a:pPr lvl="2" eaLnBrk="1" hangingPunct="1"/>
            <a:r>
              <a:rPr lang="en-US" altLang="en-US" dirty="0" smtClean="0">
                <a:cs typeface="Arial" panose="020B0604020202020204" pitchFamily="34" charset="0"/>
              </a:rPr>
              <a:t>Ensure that tests pass in ICM and fail in FCM</a:t>
            </a:r>
          </a:p>
          <a:p>
            <a:pPr lvl="3" eaLnBrk="1" hangingPunct="1"/>
            <a:r>
              <a:rPr lang="en-US" altLang="en-US" dirty="0" smtClean="0">
                <a:cs typeface="Arial" panose="020B0604020202020204" pitchFamily="34" charset="0"/>
              </a:rPr>
              <a:t>Create tests for current DFCS functionality</a:t>
            </a:r>
          </a:p>
          <a:p>
            <a:pPr lvl="3" eaLnBrk="1" hangingPunct="1"/>
            <a:r>
              <a:rPr lang="en-US" altLang="en-US" dirty="0" smtClean="0">
                <a:cs typeface="Arial" panose="020B0604020202020204" pitchFamily="34" charset="0"/>
              </a:rPr>
              <a:t>Move code and tests to ICM</a:t>
            </a:r>
          </a:p>
          <a:p>
            <a:pPr lvl="3" eaLnBrk="1" hangingPunct="1"/>
            <a:r>
              <a:rPr lang="en-US" altLang="en-US" dirty="0" smtClean="0">
                <a:cs typeface="Arial" panose="020B0604020202020204" pitchFamily="34" charset="0"/>
              </a:rPr>
              <a:t>Make sure tests pass in new environment</a:t>
            </a:r>
          </a:p>
          <a:p>
            <a:pPr marL="0" indent="0" fontAlgn="base"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dirty="0" smtClean="0">
                <a:cs typeface="Arial" panose="020B0604020202020204" pitchFamily="34" charset="0"/>
              </a:rPr>
              <a:t>Challenges</a:t>
            </a:r>
            <a:endParaRPr lang="en-US" altLang="en-US" strike="sngStrike" dirty="0" smtClean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lvl="1"/>
            <a:r>
              <a:rPr lang="en-US" altLang="en-US" sz="2000" b="0" dirty="0" smtClean="0">
                <a:cs typeface="Arial" panose="020B0604020202020204" pitchFamily="34" charset="0"/>
              </a:rPr>
              <a:t>Code predates available documentation and unit tests</a:t>
            </a:r>
          </a:p>
          <a:p>
            <a:pPr lvl="1"/>
            <a:r>
              <a:rPr lang="en-US" altLang="en-US" sz="2000" b="0" dirty="0" smtClean="0">
                <a:cs typeface="Arial" panose="020B0604020202020204" pitchFamily="34" charset="0"/>
              </a:rPr>
              <a:t>ICM hardware is still in development</a:t>
            </a:r>
          </a:p>
          <a:p>
            <a:pPr lvl="2"/>
            <a:r>
              <a:rPr lang="en-US" altLang="en-US" sz="1800" dirty="0" smtClean="0">
                <a:cs typeface="Arial" panose="020B0604020202020204" pitchFamily="34" charset="0"/>
              </a:rPr>
              <a:t>Cannot test via SIM or with plane in SIL</a:t>
            </a:r>
            <a:endParaRPr lang="en-US" altLang="en-US" sz="1800" b="0" dirty="0" smtClean="0">
              <a:cs typeface="Arial" panose="020B0604020202020204" pitchFamily="34" charset="0"/>
            </a:endParaRPr>
          </a:p>
          <a:p>
            <a:pPr lvl="2"/>
            <a:r>
              <a:rPr lang="en-US" altLang="en-US" sz="1800" dirty="0" smtClean="0"/>
              <a:t>Take advantage of the Linker in the 4 </a:t>
            </a:r>
            <a:r>
              <a:rPr lang="en-US" altLang="en-US" sz="1800" dirty="0"/>
              <a:t>stage compiler </a:t>
            </a:r>
            <a:r>
              <a:rPr lang="en-US" altLang="en-US" sz="1800" dirty="0" smtClean="0"/>
              <a:t>process</a:t>
            </a:r>
          </a:p>
          <a:p>
            <a:pPr lvl="3"/>
            <a:r>
              <a:rPr lang="en-US" altLang="en-US" sz="1800" dirty="0" smtClean="0"/>
              <a:t>Preprocessor, Compiler, Assembler, and Linker</a:t>
            </a:r>
            <a:endParaRPr lang="en-US" altLang="en-US" sz="1800" dirty="0"/>
          </a:p>
          <a:p>
            <a:pPr lvl="2"/>
            <a:endParaRPr lang="en-US" altLang="en-US" sz="1800" b="0" dirty="0" smtClean="0">
              <a:cs typeface="Arial" panose="020B0604020202020204" pitchFamily="34" charset="0"/>
            </a:endParaRPr>
          </a:p>
          <a:p>
            <a:pPr marL="1828800" lvl="4" indent="0" eaLnBrk="1" hangingPunct="1">
              <a:buNone/>
            </a:pPr>
            <a:endParaRPr lang="en-US" altLang="en-US" dirty="0" smtClean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5236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ontent Placeholder 3"/>
          <p:cNvSpPr>
            <a:spLocks noGrp="1"/>
          </p:cNvSpPr>
          <p:nvPr>
            <p:ph idx="1"/>
          </p:nvPr>
        </p:nvSpPr>
        <p:spPr>
          <a:xfrm>
            <a:off x="1805623" y="3114040"/>
            <a:ext cx="5509577" cy="904875"/>
          </a:xfrm>
        </p:spPr>
        <p:txBody>
          <a:bodyPr/>
          <a:lstStyle/>
          <a:p>
            <a:pPr marL="0" indent="0" algn="ctr" fontAlgn="base"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dirty="0" smtClean="0"/>
              <a:t>How to test individual features without Hardware or Simulation?</a:t>
            </a:r>
          </a:p>
        </p:txBody>
      </p:sp>
    </p:spTree>
    <p:extLst>
      <p:ext uri="{BB962C8B-B14F-4D97-AF65-F5344CB8AC3E}">
        <p14:creationId xmlns:p14="http://schemas.microsoft.com/office/powerpoint/2010/main" val="3552192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4 Stages of Compiling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5624" y="2057400"/>
            <a:ext cx="81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t</a:t>
            </a:r>
            <a:r>
              <a:rPr lang="en-US" b="1" dirty="0" err="1" smtClean="0"/>
              <a:t>cdl.h</a:t>
            </a:r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>
            <a:off x="2317945" y="2013466"/>
            <a:ext cx="1066800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/>
          <p:cNvCxnSpPr>
            <a:stCxn id="33" idx="2"/>
            <a:endCxn id="55" idx="0"/>
          </p:cNvCxnSpPr>
          <p:nvPr/>
        </p:nvCxnSpPr>
        <p:spPr>
          <a:xfrm>
            <a:off x="2851345" y="2470666"/>
            <a:ext cx="0" cy="40207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211519" y="2053352"/>
            <a:ext cx="1436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 smtClean="0"/>
              <a:t>nosecam.h</a:t>
            </a:r>
            <a:endParaRPr lang="en-US" dirty="0"/>
          </a:p>
        </p:txBody>
      </p:sp>
      <p:sp>
        <p:nvSpPr>
          <p:cNvPr id="50" name="Rectangle 49"/>
          <p:cNvSpPr/>
          <p:nvPr/>
        </p:nvSpPr>
        <p:spPr>
          <a:xfrm>
            <a:off x="5142348" y="2009418"/>
            <a:ext cx="1579957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Arrow Connector 50"/>
          <p:cNvCxnSpPr>
            <a:stCxn id="50" idx="2"/>
            <a:endCxn id="61" idx="0"/>
          </p:cNvCxnSpPr>
          <p:nvPr/>
        </p:nvCxnSpPr>
        <p:spPr>
          <a:xfrm flipH="1">
            <a:off x="5932326" y="2466618"/>
            <a:ext cx="1" cy="40207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440815" y="2916674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t</a:t>
            </a:r>
            <a:r>
              <a:rPr lang="en-US" b="1" dirty="0" err="1" smtClean="0"/>
              <a:t>cdl.c</a:t>
            </a:r>
            <a:endParaRPr lang="en-US" dirty="0"/>
          </a:p>
        </p:txBody>
      </p:sp>
      <p:sp>
        <p:nvSpPr>
          <p:cNvPr id="55" name="Rectangle 54"/>
          <p:cNvSpPr/>
          <p:nvPr/>
        </p:nvSpPr>
        <p:spPr>
          <a:xfrm>
            <a:off x="2317945" y="2872740"/>
            <a:ext cx="1066800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3789207" y="2916674"/>
            <a:ext cx="95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m</a:t>
            </a:r>
            <a:r>
              <a:rPr lang="en-US" b="1" dirty="0" err="1" smtClean="0"/>
              <a:t>ain.c</a:t>
            </a:r>
            <a:endParaRPr lang="en-US" dirty="0"/>
          </a:p>
        </p:txBody>
      </p:sp>
      <p:sp>
        <p:nvSpPr>
          <p:cNvPr id="58" name="Rectangle 57"/>
          <p:cNvSpPr/>
          <p:nvPr/>
        </p:nvSpPr>
        <p:spPr>
          <a:xfrm>
            <a:off x="3735265" y="2872740"/>
            <a:ext cx="1066800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5131862" y="2912626"/>
            <a:ext cx="1580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/>
              <a:t>nosecam.c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5142347" y="2868692"/>
            <a:ext cx="1579957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2851345" y="2470666"/>
            <a:ext cx="1150619" cy="40207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>
            <a:off x="4535364" y="2466618"/>
            <a:ext cx="1396963" cy="40612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491864" y="1160026"/>
            <a:ext cx="37866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Example: main application uses </a:t>
            </a:r>
          </a:p>
          <a:p>
            <a:pPr algn="ctr"/>
            <a:r>
              <a:rPr lang="en-US" dirty="0" err="1"/>
              <a:t>t</a:t>
            </a:r>
            <a:r>
              <a:rPr lang="en-US" dirty="0" err="1" smtClean="0"/>
              <a:t>cdl</a:t>
            </a:r>
            <a:r>
              <a:rPr lang="en-US" dirty="0" smtClean="0"/>
              <a:t> and nose camera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410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4 Stages of Compiling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5624" y="2057400"/>
            <a:ext cx="81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t</a:t>
            </a:r>
            <a:r>
              <a:rPr lang="en-US" b="1" dirty="0" err="1" smtClean="0"/>
              <a:t>cdl.h</a:t>
            </a:r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>
            <a:off x="2317945" y="2013466"/>
            <a:ext cx="1066800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/>
          <p:cNvCxnSpPr>
            <a:stCxn id="33" idx="2"/>
            <a:endCxn id="55" idx="0"/>
          </p:cNvCxnSpPr>
          <p:nvPr/>
        </p:nvCxnSpPr>
        <p:spPr>
          <a:xfrm>
            <a:off x="2851345" y="2470666"/>
            <a:ext cx="0" cy="40207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185069" y="2053352"/>
            <a:ext cx="1489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nosecam</a:t>
            </a:r>
            <a:r>
              <a:rPr lang="en-US" b="1" dirty="0" err="1" smtClean="0"/>
              <a:t>.h</a:t>
            </a:r>
            <a:endParaRPr lang="en-US" dirty="0"/>
          </a:p>
        </p:txBody>
      </p:sp>
      <p:sp>
        <p:nvSpPr>
          <p:cNvPr id="50" name="Rectangle 49"/>
          <p:cNvSpPr/>
          <p:nvPr/>
        </p:nvSpPr>
        <p:spPr>
          <a:xfrm>
            <a:off x="5142348" y="2009418"/>
            <a:ext cx="1579957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Arrow Connector 50"/>
          <p:cNvCxnSpPr>
            <a:stCxn id="50" idx="2"/>
            <a:endCxn id="61" idx="0"/>
          </p:cNvCxnSpPr>
          <p:nvPr/>
        </p:nvCxnSpPr>
        <p:spPr>
          <a:xfrm flipH="1">
            <a:off x="5932326" y="2466618"/>
            <a:ext cx="1" cy="40207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440815" y="2916674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t</a:t>
            </a:r>
            <a:r>
              <a:rPr lang="en-US" b="1" dirty="0" err="1" smtClean="0"/>
              <a:t>cdl.c</a:t>
            </a:r>
            <a:endParaRPr lang="en-US" dirty="0"/>
          </a:p>
        </p:txBody>
      </p:sp>
      <p:sp>
        <p:nvSpPr>
          <p:cNvPr id="55" name="Rectangle 54"/>
          <p:cNvSpPr/>
          <p:nvPr/>
        </p:nvSpPr>
        <p:spPr>
          <a:xfrm>
            <a:off x="2317945" y="2872740"/>
            <a:ext cx="1066800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Arrow Connector 55"/>
          <p:cNvCxnSpPr>
            <a:stCxn id="55" idx="2"/>
            <a:endCxn id="71" idx="0"/>
          </p:cNvCxnSpPr>
          <p:nvPr/>
        </p:nvCxnSpPr>
        <p:spPr>
          <a:xfrm>
            <a:off x="2851345" y="3329940"/>
            <a:ext cx="0" cy="398026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3789207" y="2916674"/>
            <a:ext cx="95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m</a:t>
            </a:r>
            <a:r>
              <a:rPr lang="en-US" b="1" dirty="0" err="1" smtClean="0"/>
              <a:t>ain.c</a:t>
            </a:r>
            <a:endParaRPr lang="en-US" dirty="0"/>
          </a:p>
        </p:txBody>
      </p:sp>
      <p:sp>
        <p:nvSpPr>
          <p:cNvPr id="58" name="Rectangle 57"/>
          <p:cNvSpPr/>
          <p:nvPr/>
        </p:nvSpPr>
        <p:spPr>
          <a:xfrm>
            <a:off x="3735265" y="2872740"/>
            <a:ext cx="1066800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/>
          <p:cNvCxnSpPr>
            <a:stCxn id="58" idx="2"/>
            <a:endCxn id="66" idx="0"/>
          </p:cNvCxnSpPr>
          <p:nvPr/>
        </p:nvCxnSpPr>
        <p:spPr>
          <a:xfrm>
            <a:off x="4268665" y="3329940"/>
            <a:ext cx="6368" cy="40207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131862" y="2912626"/>
            <a:ext cx="1580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nosecam</a:t>
            </a:r>
            <a:r>
              <a:rPr lang="en-US" b="1" dirty="0" err="1" smtClean="0"/>
              <a:t>.c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5142347" y="2868692"/>
            <a:ext cx="1579957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Arrow Connector 63"/>
          <p:cNvCxnSpPr>
            <a:stCxn id="61" idx="2"/>
            <a:endCxn id="68" idx="0"/>
          </p:cNvCxnSpPr>
          <p:nvPr/>
        </p:nvCxnSpPr>
        <p:spPr>
          <a:xfrm>
            <a:off x="5932326" y="3325892"/>
            <a:ext cx="9935" cy="40207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3795575" y="3775948"/>
            <a:ext cx="95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m</a:t>
            </a:r>
            <a:r>
              <a:rPr lang="en-US" b="1" dirty="0" err="1" smtClean="0"/>
              <a:t>ain.o</a:t>
            </a:r>
            <a:endParaRPr lang="en-US" dirty="0"/>
          </a:p>
        </p:txBody>
      </p:sp>
      <p:sp>
        <p:nvSpPr>
          <p:cNvPr id="66" name="Rectangle 65"/>
          <p:cNvSpPr/>
          <p:nvPr/>
        </p:nvSpPr>
        <p:spPr>
          <a:xfrm>
            <a:off x="3741633" y="3732014"/>
            <a:ext cx="1066800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5152282" y="3727966"/>
            <a:ext cx="1579957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/>
          <p:cNvSpPr txBox="1"/>
          <p:nvPr/>
        </p:nvSpPr>
        <p:spPr>
          <a:xfrm>
            <a:off x="5152282" y="3771900"/>
            <a:ext cx="1580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nosecam</a:t>
            </a:r>
            <a:r>
              <a:rPr lang="en-US" b="1" dirty="0" err="1" smtClean="0"/>
              <a:t>.o</a:t>
            </a:r>
            <a:endParaRPr lang="en-US" dirty="0"/>
          </a:p>
        </p:txBody>
      </p:sp>
      <p:sp>
        <p:nvSpPr>
          <p:cNvPr id="71" name="Rectangle 70"/>
          <p:cNvSpPr/>
          <p:nvPr/>
        </p:nvSpPr>
        <p:spPr>
          <a:xfrm>
            <a:off x="2317945" y="3727966"/>
            <a:ext cx="1066800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/>
          <p:cNvSpPr txBox="1"/>
          <p:nvPr/>
        </p:nvSpPr>
        <p:spPr>
          <a:xfrm>
            <a:off x="2447335" y="3771900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t</a:t>
            </a:r>
            <a:r>
              <a:rPr lang="en-US" b="1" dirty="0" err="1" smtClean="0"/>
              <a:t>cdl.o</a:t>
            </a:r>
            <a:endParaRPr lang="en-US" dirty="0"/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2851345" y="2470666"/>
            <a:ext cx="1150619" cy="40207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>
            <a:off x="4535364" y="2466618"/>
            <a:ext cx="1396963" cy="40612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412501" y="1182678"/>
            <a:ext cx="17123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Compiling</a:t>
            </a:r>
          </a:p>
          <a:p>
            <a:pPr algn="ctr"/>
            <a:r>
              <a:rPr lang="en-US" dirty="0" smtClean="0"/>
              <a:t>(turns .c to .o)</a:t>
            </a:r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1691640" y="3513475"/>
            <a:ext cx="5501640" cy="762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227922" y="3309759"/>
            <a:ext cx="1181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/>
              <a:t>compiler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716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4 Stages of Compiling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5624" y="2057400"/>
            <a:ext cx="81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t</a:t>
            </a:r>
            <a:r>
              <a:rPr lang="en-US" b="1" dirty="0" err="1" smtClean="0"/>
              <a:t>cdl.h</a:t>
            </a:r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>
            <a:off x="2317945" y="2013466"/>
            <a:ext cx="1066800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/>
          <p:cNvCxnSpPr>
            <a:stCxn id="33" idx="2"/>
            <a:endCxn id="55" idx="0"/>
          </p:cNvCxnSpPr>
          <p:nvPr/>
        </p:nvCxnSpPr>
        <p:spPr>
          <a:xfrm>
            <a:off x="2851345" y="2470666"/>
            <a:ext cx="0" cy="40207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185069" y="2053352"/>
            <a:ext cx="1489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nosecam</a:t>
            </a:r>
            <a:r>
              <a:rPr lang="en-US" b="1" dirty="0" err="1" smtClean="0"/>
              <a:t>.h</a:t>
            </a:r>
            <a:endParaRPr lang="en-US" dirty="0"/>
          </a:p>
        </p:txBody>
      </p:sp>
      <p:sp>
        <p:nvSpPr>
          <p:cNvPr id="50" name="Rectangle 49"/>
          <p:cNvSpPr/>
          <p:nvPr/>
        </p:nvSpPr>
        <p:spPr>
          <a:xfrm>
            <a:off x="5142348" y="2009418"/>
            <a:ext cx="1579957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Arrow Connector 50"/>
          <p:cNvCxnSpPr>
            <a:stCxn id="50" idx="2"/>
            <a:endCxn id="61" idx="0"/>
          </p:cNvCxnSpPr>
          <p:nvPr/>
        </p:nvCxnSpPr>
        <p:spPr>
          <a:xfrm flipH="1">
            <a:off x="5932326" y="2466618"/>
            <a:ext cx="1" cy="40207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440815" y="2916674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t</a:t>
            </a:r>
            <a:r>
              <a:rPr lang="en-US" b="1" dirty="0" err="1" smtClean="0"/>
              <a:t>cdl.c</a:t>
            </a:r>
            <a:endParaRPr lang="en-US" dirty="0"/>
          </a:p>
        </p:txBody>
      </p:sp>
      <p:sp>
        <p:nvSpPr>
          <p:cNvPr id="55" name="Rectangle 54"/>
          <p:cNvSpPr/>
          <p:nvPr/>
        </p:nvSpPr>
        <p:spPr>
          <a:xfrm>
            <a:off x="2317945" y="2872740"/>
            <a:ext cx="1066800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Arrow Connector 55"/>
          <p:cNvCxnSpPr>
            <a:stCxn id="55" idx="2"/>
            <a:endCxn id="71" idx="0"/>
          </p:cNvCxnSpPr>
          <p:nvPr/>
        </p:nvCxnSpPr>
        <p:spPr>
          <a:xfrm>
            <a:off x="2851345" y="3329940"/>
            <a:ext cx="0" cy="398026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3789207" y="2916674"/>
            <a:ext cx="95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m</a:t>
            </a:r>
            <a:r>
              <a:rPr lang="en-US" b="1" dirty="0" err="1" smtClean="0"/>
              <a:t>ain.c</a:t>
            </a:r>
            <a:endParaRPr lang="en-US" dirty="0"/>
          </a:p>
        </p:txBody>
      </p:sp>
      <p:sp>
        <p:nvSpPr>
          <p:cNvPr id="58" name="Rectangle 57"/>
          <p:cNvSpPr/>
          <p:nvPr/>
        </p:nvSpPr>
        <p:spPr>
          <a:xfrm>
            <a:off x="3735265" y="2872740"/>
            <a:ext cx="1066800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/>
          <p:cNvCxnSpPr>
            <a:stCxn id="58" idx="2"/>
            <a:endCxn id="66" idx="0"/>
          </p:cNvCxnSpPr>
          <p:nvPr/>
        </p:nvCxnSpPr>
        <p:spPr>
          <a:xfrm>
            <a:off x="4268665" y="3329940"/>
            <a:ext cx="6368" cy="40207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131862" y="2912626"/>
            <a:ext cx="1580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nosecam</a:t>
            </a:r>
            <a:r>
              <a:rPr lang="en-US" b="1" dirty="0" err="1" smtClean="0"/>
              <a:t>.c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5142347" y="2868692"/>
            <a:ext cx="1579957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Arrow Connector 63"/>
          <p:cNvCxnSpPr>
            <a:stCxn id="61" idx="2"/>
            <a:endCxn id="68" idx="0"/>
          </p:cNvCxnSpPr>
          <p:nvPr/>
        </p:nvCxnSpPr>
        <p:spPr>
          <a:xfrm>
            <a:off x="5932326" y="3325892"/>
            <a:ext cx="9935" cy="40207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3795575" y="3775948"/>
            <a:ext cx="95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m</a:t>
            </a:r>
            <a:r>
              <a:rPr lang="en-US" b="1" dirty="0" err="1" smtClean="0"/>
              <a:t>ain.o</a:t>
            </a:r>
            <a:endParaRPr lang="en-US" dirty="0"/>
          </a:p>
        </p:txBody>
      </p:sp>
      <p:sp>
        <p:nvSpPr>
          <p:cNvPr id="66" name="Rectangle 65"/>
          <p:cNvSpPr/>
          <p:nvPr/>
        </p:nvSpPr>
        <p:spPr>
          <a:xfrm>
            <a:off x="3741633" y="3732014"/>
            <a:ext cx="1066800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Straight Arrow Connector 66"/>
          <p:cNvCxnSpPr>
            <a:stCxn id="66" idx="2"/>
            <a:endCxn id="75" idx="0"/>
          </p:cNvCxnSpPr>
          <p:nvPr/>
        </p:nvCxnSpPr>
        <p:spPr>
          <a:xfrm>
            <a:off x="4275033" y="4189214"/>
            <a:ext cx="0" cy="40207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5152282" y="3727966"/>
            <a:ext cx="1579957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Straight Arrow Connector 68"/>
          <p:cNvCxnSpPr>
            <a:stCxn id="68" idx="2"/>
            <a:endCxn id="75" idx="3"/>
          </p:cNvCxnSpPr>
          <p:nvPr/>
        </p:nvCxnSpPr>
        <p:spPr>
          <a:xfrm flipH="1">
            <a:off x="4808433" y="4185166"/>
            <a:ext cx="1133828" cy="63472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152282" y="3771900"/>
            <a:ext cx="1580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nosecam</a:t>
            </a:r>
            <a:r>
              <a:rPr lang="en-US" b="1" dirty="0" err="1" smtClean="0"/>
              <a:t>.o</a:t>
            </a:r>
            <a:endParaRPr lang="en-US" dirty="0"/>
          </a:p>
        </p:txBody>
      </p:sp>
      <p:sp>
        <p:nvSpPr>
          <p:cNvPr id="71" name="Rectangle 70"/>
          <p:cNvSpPr/>
          <p:nvPr/>
        </p:nvSpPr>
        <p:spPr>
          <a:xfrm>
            <a:off x="2317945" y="3727966"/>
            <a:ext cx="1066800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2" name="Straight Arrow Connector 71"/>
          <p:cNvCxnSpPr>
            <a:stCxn id="71" idx="2"/>
            <a:endCxn id="75" idx="1"/>
          </p:cNvCxnSpPr>
          <p:nvPr/>
        </p:nvCxnSpPr>
        <p:spPr>
          <a:xfrm>
            <a:off x="2851345" y="4185166"/>
            <a:ext cx="890288" cy="63472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2447335" y="3771900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t</a:t>
            </a:r>
            <a:r>
              <a:rPr lang="en-US" b="1" dirty="0" err="1" smtClean="0"/>
              <a:t>cdl.o</a:t>
            </a:r>
            <a:endParaRPr lang="en-US" dirty="0"/>
          </a:p>
        </p:txBody>
      </p:sp>
      <p:sp>
        <p:nvSpPr>
          <p:cNvPr id="74" name="TextBox 73"/>
          <p:cNvSpPr txBox="1"/>
          <p:nvPr/>
        </p:nvSpPr>
        <p:spPr>
          <a:xfrm>
            <a:off x="3896564" y="4635222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/>
              <a:t>exec</a:t>
            </a:r>
            <a:endParaRPr lang="en-US" dirty="0"/>
          </a:p>
        </p:txBody>
      </p:sp>
      <p:sp>
        <p:nvSpPr>
          <p:cNvPr id="75" name="Rectangle 74"/>
          <p:cNvSpPr/>
          <p:nvPr/>
        </p:nvSpPr>
        <p:spPr>
          <a:xfrm>
            <a:off x="3741633" y="4591288"/>
            <a:ext cx="1066800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2851345" y="2470666"/>
            <a:ext cx="1150619" cy="40207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H="1">
            <a:off x="4535364" y="2466618"/>
            <a:ext cx="1396963" cy="40612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734437" y="1182678"/>
            <a:ext cx="30684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Linker combines</a:t>
            </a:r>
          </a:p>
          <a:p>
            <a:pPr algn="ctr"/>
            <a:r>
              <a:rPr lang="en-US" dirty="0" smtClean="0"/>
              <a:t>.o files into an executable</a:t>
            </a:r>
          </a:p>
        </p:txBody>
      </p:sp>
      <p:cxnSp>
        <p:nvCxnSpPr>
          <p:cNvPr id="34" name="Straight Connector 33"/>
          <p:cNvCxnSpPr/>
          <p:nvPr/>
        </p:nvCxnSpPr>
        <p:spPr>
          <a:xfrm flipV="1">
            <a:off x="1691640" y="3513475"/>
            <a:ext cx="5501640" cy="762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227922" y="3309759"/>
            <a:ext cx="1181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/>
              <a:t>compiler</a:t>
            </a:r>
            <a:endParaRPr lang="en-US" dirty="0"/>
          </a:p>
        </p:txBody>
      </p:sp>
      <p:cxnSp>
        <p:nvCxnSpPr>
          <p:cNvPr id="37" name="Straight Connector 36"/>
          <p:cNvCxnSpPr/>
          <p:nvPr/>
        </p:nvCxnSpPr>
        <p:spPr>
          <a:xfrm flipV="1">
            <a:off x="1691640" y="4435971"/>
            <a:ext cx="5501640" cy="762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227922" y="4251305"/>
            <a:ext cx="790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/>
              <a:t>linker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605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How to Isolate Features (with Fakes)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5624" y="2057400"/>
            <a:ext cx="81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t</a:t>
            </a:r>
            <a:r>
              <a:rPr lang="en-US" b="1" dirty="0" err="1" smtClean="0"/>
              <a:t>cdl.h</a:t>
            </a:r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>
            <a:off x="2317945" y="2013466"/>
            <a:ext cx="1066800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/>
          <p:cNvCxnSpPr>
            <a:stCxn id="33" idx="2"/>
            <a:endCxn id="55" idx="0"/>
          </p:cNvCxnSpPr>
          <p:nvPr/>
        </p:nvCxnSpPr>
        <p:spPr>
          <a:xfrm>
            <a:off x="2851345" y="2470666"/>
            <a:ext cx="0" cy="40207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185069" y="2053352"/>
            <a:ext cx="1489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nosecam</a:t>
            </a:r>
            <a:r>
              <a:rPr lang="en-US" b="1" dirty="0" err="1" smtClean="0"/>
              <a:t>.h</a:t>
            </a:r>
            <a:endParaRPr lang="en-US" dirty="0"/>
          </a:p>
        </p:txBody>
      </p:sp>
      <p:sp>
        <p:nvSpPr>
          <p:cNvPr id="50" name="Rectangle 49"/>
          <p:cNvSpPr/>
          <p:nvPr/>
        </p:nvSpPr>
        <p:spPr>
          <a:xfrm>
            <a:off x="5142348" y="2009418"/>
            <a:ext cx="1579957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Arrow Connector 50"/>
          <p:cNvCxnSpPr>
            <a:stCxn id="50" idx="2"/>
            <a:endCxn id="61" idx="0"/>
          </p:cNvCxnSpPr>
          <p:nvPr/>
        </p:nvCxnSpPr>
        <p:spPr>
          <a:xfrm flipH="1">
            <a:off x="5932326" y="2466618"/>
            <a:ext cx="1" cy="40207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440815" y="2916674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t</a:t>
            </a:r>
            <a:r>
              <a:rPr lang="en-US" b="1" dirty="0" err="1" smtClean="0"/>
              <a:t>cdl.c</a:t>
            </a:r>
            <a:endParaRPr lang="en-US" dirty="0"/>
          </a:p>
        </p:txBody>
      </p:sp>
      <p:sp>
        <p:nvSpPr>
          <p:cNvPr id="55" name="Rectangle 54"/>
          <p:cNvSpPr/>
          <p:nvPr/>
        </p:nvSpPr>
        <p:spPr>
          <a:xfrm>
            <a:off x="2317945" y="2872740"/>
            <a:ext cx="1066800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3789207" y="2916674"/>
            <a:ext cx="95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m</a:t>
            </a:r>
            <a:r>
              <a:rPr lang="en-US" b="1" dirty="0" err="1" smtClean="0"/>
              <a:t>ain.c</a:t>
            </a:r>
            <a:endParaRPr lang="en-US" dirty="0"/>
          </a:p>
        </p:txBody>
      </p:sp>
      <p:sp>
        <p:nvSpPr>
          <p:cNvPr id="58" name="Rectangle 57"/>
          <p:cNvSpPr/>
          <p:nvPr/>
        </p:nvSpPr>
        <p:spPr>
          <a:xfrm>
            <a:off x="3735265" y="2872740"/>
            <a:ext cx="1066800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5131862" y="2912626"/>
            <a:ext cx="1580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nosecam</a:t>
            </a:r>
            <a:r>
              <a:rPr lang="en-US" b="1" dirty="0" err="1" smtClean="0"/>
              <a:t>.c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5142347" y="2868692"/>
            <a:ext cx="1579957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/>
          <p:cNvCxnSpPr>
            <a:stCxn id="33" idx="2"/>
          </p:cNvCxnSpPr>
          <p:nvPr/>
        </p:nvCxnSpPr>
        <p:spPr>
          <a:xfrm>
            <a:off x="2851345" y="2470666"/>
            <a:ext cx="1150619" cy="40207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50" idx="2"/>
          </p:cNvCxnSpPr>
          <p:nvPr/>
        </p:nvCxnSpPr>
        <p:spPr>
          <a:xfrm flipH="1">
            <a:off x="4535364" y="2466618"/>
            <a:ext cx="1396963" cy="40612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393417" y="1344930"/>
            <a:ext cx="5971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What if I only want </a:t>
            </a:r>
            <a:r>
              <a:rPr lang="en-US" dirty="0" err="1" smtClean="0"/>
              <a:t>nosecam</a:t>
            </a:r>
            <a:r>
              <a:rPr lang="en-US" dirty="0" smtClean="0"/>
              <a:t> and I don’t need </a:t>
            </a:r>
            <a:r>
              <a:rPr lang="en-US" dirty="0" err="1" smtClean="0"/>
              <a:t>tcdl</a:t>
            </a:r>
            <a:r>
              <a:rPr lang="en-US" dirty="0" smtClean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898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How to Isolate Features (with Fakes)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5624" y="2057400"/>
            <a:ext cx="81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t</a:t>
            </a:r>
            <a:r>
              <a:rPr lang="en-US" b="1" dirty="0" err="1" smtClean="0"/>
              <a:t>cdl.h</a:t>
            </a:r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>
            <a:off x="2317945" y="2013466"/>
            <a:ext cx="1066800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/>
          <p:cNvCxnSpPr>
            <a:stCxn id="33" idx="2"/>
            <a:endCxn id="55" idx="0"/>
          </p:cNvCxnSpPr>
          <p:nvPr/>
        </p:nvCxnSpPr>
        <p:spPr>
          <a:xfrm>
            <a:off x="2851345" y="2470666"/>
            <a:ext cx="0" cy="40207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185069" y="2053352"/>
            <a:ext cx="1489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nosecam</a:t>
            </a:r>
            <a:r>
              <a:rPr lang="en-US" b="1" dirty="0" err="1" smtClean="0"/>
              <a:t>.h</a:t>
            </a:r>
            <a:endParaRPr lang="en-US" dirty="0"/>
          </a:p>
        </p:txBody>
      </p:sp>
      <p:sp>
        <p:nvSpPr>
          <p:cNvPr id="50" name="Rectangle 49"/>
          <p:cNvSpPr/>
          <p:nvPr/>
        </p:nvSpPr>
        <p:spPr>
          <a:xfrm>
            <a:off x="5142348" y="2009418"/>
            <a:ext cx="1579957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Arrow Connector 50"/>
          <p:cNvCxnSpPr>
            <a:stCxn id="50" idx="2"/>
            <a:endCxn id="61" idx="0"/>
          </p:cNvCxnSpPr>
          <p:nvPr/>
        </p:nvCxnSpPr>
        <p:spPr>
          <a:xfrm flipH="1">
            <a:off x="5932326" y="2466618"/>
            <a:ext cx="1" cy="40207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440815" y="2916674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t</a:t>
            </a:r>
            <a:r>
              <a:rPr lang="en-US" b="1" dirty="0" err="1" smtClean="0"/>
              <a:t>cdl.c</a:t>
            </a:r>
            <a:endParaRPr lang="en-US" dirty="0"/>
          </a:p>
        </p:txBody>
      </p:sp>
      <p:sp>
        <p:nvSpPr>
          <p:cNvPr id="55" name="Rectangle 54"/>
          <p:cNvSpPr/>
          <p:nvPr/>
        </p:nvSpPr>
        <p:spPr>
          <a:xfrm>
            <a:off x="2317945" y="2872740"/>
            <a:ext cx="1066800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3789207" y="2916674"/>
            <a:ext cx="95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m</a:t>
            </a:r>
            <a:r>
              <a:rPr lang="en-US" b="1" dirty="0" err="1" smtClean="0"/>
              <a:t>ain.c</a:t>
            </a:r>
            <a:endParaRPr lang="en-US" dirty="0"/>
          </a:p>
        </p:txBody>
      </p:sp>
      <p:sp>
        <p:nvSpPr>
          <p:cNvPr id="58" name="Rectangle 57"/>
          <p:cNvSpPr/>
          <p:nvPr/>
        </p:nvSpPr>
        <p:spPr>
          <a:xfrm>
            <a:off x="3735265" y="2872740"/>
            <a:ext cx="1066800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5131862" y="2912626"/>
            <a:ext cx="1580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nosecam</a:t>
            </a:r>
            <a:r>
              <a:rPr lang="en-US" b="1" dirty="0" err="1" smtClean="0"/>
              <a:t>.c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5142347" y="2868692"/>
            <a:ext cx="1579957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/>
          <p:cNvCxnSpPr>
            <a:stCxn id="33" idx="2"/>
            <a:endCxn id="31" idx="0"/>
          </p:cNvCxnSpPr>
          <p:nvPr/>
        </p:nvCxnSpPr>
        <p:spPr>
          <a:xfrm flipH="1">
            <a:off x="1329231" y="2470666"/>
            <a:ext cx="1522114" cy="42493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61641" y="2939534"/>
            <a:ext cx="1319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f</a:t>
            </a:r>
            <a:r>
              <a:rPr lang="en-US" b="1" dirty="0" err="1" smtClean="0"/>
              <a:t>aketcdl.c</a:t>
            </a:r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551258" y="2895600"/>
            <a:ext cx="1555945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/>
          <p:cNvCxnSpPr>
            <a:stCxn id="33" idx="2"/>
          </p:cNvCxnSpPr>
          <p:nvPr/>
        </p:nvCxnSpPr>
        <p:spPr>
          <a:xfrm>
            <a:off x="2851345" y="2470666"/>
            <a:ext cx="1150619" cy="40207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50" idx="2"/>
          </p:cNvCxnSpPr>
          <p:nvPr/>
        </p:nvCxnSpPr>
        <p:spPr>
          <a:xfrm flipH="1">
            <a:off x="4535364" y="2466618"/>
            <a:ext cx="1396963" cy="40612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247299" y="1344930"/>
            <a:ext cx="2263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Fake out </a:t>
            </a:r>
            <a:r>
              <a:rPr lang="en-US" dirty="0" err="1" smtClean="0"/>
              <a:t>tcdl</a:t>
            </a:r>
            <a:r>
              <a:rPr lang="en-US" dirty="0"/>
              <a:t> </a:t>
            </a:r>
            <a:r>
              <a:rPr lang="en-US" dirty="0" smtClean="0"/>
              <a:t>logic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733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How to Isolate Features (with Fakes)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5624" y="2057400"/>
            <a:ext cx="81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t</a:t>
            </a:r>
            <a:r>
              <a:rPr lang="en-US" b="1" dirty="0" err="1" smtClean="0"/>
              <a:t>cdl.h</a:t>
            </a:r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>
            <a:off x="2317945" y="2013466"/>
            <a:ext cx="1066800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/>
          <p:cNvCxnSpPr>
            <a:stCxn id="33" idx="2"/>
            <a:endCxn id="55" idx="0"/>
          </p:cNvCxnSpPr>
          <p:nvPr/>
        </p:nvCxnSpPr>
        <p:spPr>
          <a:xfrm>
            <a:off x="2851345" y="2470666"/>
            <a:ext cx="0" cy="40207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185069" y="2053352"/>
            <a:ext cx="1489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nosecam</a:t>
            </a:r>
            <a:r>
              <a:rPr lang="en-US" b="1" dirty="0" err="1" smtClean="0"/>
              <a:t>.h</a:t>
            </a:r>
            <a:endParaRPr lang="en-US" dirty="0"/>
          </a:p>
        </p:txBody>
      </p:sp>
      <p:sp>
        <p:nvSpPr>
          <p:cNvPr id="50" name="Rectangle 49"/>
          <p:cNvSpPr/>
          <p:nvPr/>
        </p:nvSpPr>
        <p:spPr>
          <a:xfrm>
            <a:off x="5142348" y="2009418"/>
            <a:ext cx="1579957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Arrow Connector 50"/>
          <p:cNvCxnSpPr>
            <a:stCxn id="50" idx="2"/>
            <a:endCxn id="61" idx="0"/>
          </p:cNvCxnSpPr>
          <p:nvPr/>
        </p:nvCxnSpPr>
        <p:spPr>
          <a:xfrm flipH="1">
            <a:off x="5932326" y="2466618"/>
            <a:ext cx="1" cy="40207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440815" y="2916674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t</a:t>
            </a:r>
            <a:r>
              <a:rPr lang="en-US" b="1" dirty="0" err="1" smtClean="0"/>
              <a:t>cdl.c</a:t>
            </a:r>
            <a:endParaRPr lang="en-US" dirty="0"/>
          </a:p>
        </p:txBody>
      </p:sp>
      <p:sp>
        <p:nvSpPr>
          <p:cNvPr id="55" name="Rectangle 54"/>
          <p:cNvSpPr/>
          <p:nvPr/>
        </p:nvSpPr>
        <p:spPr>
          <a:xfrm>
            <a:off x="2317945" y="2872740"/>
            <a:ext cx="1066800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3789207" y="2916674"/>
            <a:ext cx="95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m</a:t>
            </a:r>
            <a:r>
              <a:rPr lang="en-US" b="1" dirty="0" err="1" smtClean="0"/>
              <a:t>ain.c</a:t>
            </a:r>
            <a:endParaRPr lang="en-US" dirty="0"/>
          </a:p>
        </p:txBody>
      </p:sp>
      <p:sp>
        <p:nvSpPr>
          <p:cNvPr id="58" name="Rectangle 57"/>
          <p:cNvSpPr/>
          <p:nvPr/>
        </p:nvSpPr>
        <p:spPr>
          <a:xfrm>
            <a:off x="3735265" y="2872740"/>
            <a:ext cx="1066800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/>
          <p:cNvCxnSpPr>
            <a:stCxn id="58" idx="2"/>
            <a:endCxn id="66" idx="0"/>
          </p:cNvCxnSpPr>
          <p:nvPr/>
        </p:nvCxnSpPr>
        <p:spPr>
          <a:xfrm>
            <a:off x="4268665" y="3329940"/>
            <a:ext cx="6368" cy="40207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131862" y="2912626"/>
            <a:ext cx="1580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nosecam</a:t>
            </a:r>
            <a:r>
              <a:rPr lang="en-US" b="1" dirty="0" err="1" smtClean="0"/>
              <a:t>.c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5142347" y="2868692"/>
            <a:ext cx="1579957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Arrow Connector 63"/>
          <p:cNvCxnSpPr>
            <a:stCxn id="61" idx="2"/>
            <a:endCxn id="68" idx="0"/>
          </p:cNvCxnSpPr>
          <p:nvPr/>
        </p:nvCxnSpPr>
        <p:spPr>
          <a:xfrm>
            <a:off x="5932326" y="3325892"/>
            <a:ext cx="9935" cy="40207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3795575" y="3775948"/>
            <a:ext cx="95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m</a:t>
            </a:r>
            <a:r>
              <a:rPr lang="en-US" b="1" dirty="0" err="1" smtClean="0"/>
              <a:t>ain.o</a:t>
            </a:r>
            <a:endParaRPr lang="en-US" dirty="0"/>
          </a:p>
        </p:txBody>
      </p:sp>
      <p:sp>
        <p:nvSpPr>
          <p:cNvPr id="66" name="Rectangle 65"/>
          <p:cNvSpPr/>
          <p:nvPr/>
        </p:nvSpPr>
        <p:spPr>
          <a:xfrm>
            <a:off x="3741633" y="3732014"/>
            <a:ext cx="1066800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5152282" y="3727966"/>
            <a:ext cx="1579957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/>
          <p:cNvSpPr txBox="1"/>
          <p:nvPr/>
        </p:nvSpPr>
        <p:spPr>
          <a:xfrm>
            <a:off x="5152282" y="3771900"/>
            <a:ext cx="1580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nosecam</a:t>
            </a:r>
            <a:r>
              <a:rPr lang="en-US" b="1" dirty="0" err="1" smtClean="0"/>
              <a:t>.o</a:t>
            </a:r>
            <a:endParaRPr lang="en-US" dirty="0"/>
          </a:p>
        </p:txBody>
      </p:sp>
      <p:cxnSp>
        <p:nvCxnSpPr>
          <p:cNvPr id="29" name="Straight Arrow Connector 28"/>
          <p:cNvCxnSpPr>
            <a:stCxn id="33" idx="2"/>
            <a:endCxn id="31" idx="0"/>
          </p:cNvCxnSpPr>
          <p:nvPr/>
        </p:nvCxnSpPr>
        <p:spPr>
          <a:xfrm flipH="1">
            <a:off x="1329231" y="2470666"/>
            <a:ext cx="1522114" cy="42493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61641" y="2939534"/>
            <a:ext cx="1319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f</a:t>
            </a:r>
            <a:r>
              <a:rPr lang="en-US" b="1" dirty="0" err="1" smtClean="0"/>
              <a:t>aketcdl.c</a:t>
            </a:r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551258" y="2895600"/>
            <a:ext cx="1555945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1345203" y="3348752"/>
            <a:ext cx="0" cy="35814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70726" y="3746778"/>
            <a:ext cx="1319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f</a:t>
            </a:r>
            <a:r>
              <a:rPr lang="en-US" b="1" dirty="0" err="1" smtClean="0"/>
              <a:t>aketcdl.o</a:t>
            </a:r>
            <a:endParaRPr lang="en-US" dirty="0"/>
          </a:p>
        </p:txBody>
      </p:sp>
      <p:sp>
        <p:nvSpPr>
          <p:cNvPr id="36" name="Rectangle 35"/>
          <p:cNvSpPr/>
          <p:nvPr/>
        </p:nvSpPr>
        <p:spPr>
          <a:xfrm>
            <a:off x="560343" y="3702844"/>
            <a:ext cx="1555945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/>
          <p:cNvCxnSpPr>
            <a:stCxn id="33" idx="2"/>
          </p:cNvCxnSpPr>
          <p:nvPr/>
        </p:nvCxnSpPr>
        <p:spPr>
          <a:xfrm>
            <a:off x="2851345" y="2470666"/>
            <a:ext cx="1150619" cy="40207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50" idx="2"/>
          </p:cNvCxnSpPr>
          <p:nvPr/>
        </p:nvCxnSpPr>
        <p:spPr>
          <a:xfrm flipH="1">
            <a:off x="4535364" y="2466618"/>
            <a:ext cx="1396963" cy="40612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7227922" y="3309759"/>
            <a:ext cx="1181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/>
              <a:t>compiler</a:t>
            </a:r>
            <a:endParaRPr lang="en-US" dirty="0"/>
          </a:p>
        </p:txBody>
      </p:sp>
      <p:cxnSp>
        <p:nvCxnSpPr>
          <p:cNvPr id="63" name="Straight Connector 62"/>
          <p:cNvCxnSpPr/>
          <p:nvPr/>
        </p:nvCxnSpPr>
        <p:spPr>
          <a:xfrm flipV="1">
            <a:off x="754380" y="3513475"/>
            <a:ext cx="6438900" cy="762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1274807" y="1344930"/>
            <a:ext cx="6208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Compile fake symbols that module under test requires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805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How to Isolate Features (with Fakes)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5624" y="2057400"/>
            <a:ext cx="81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t</a:t>
            </a:r>
            <a:r>
              <a:rPr lang="en-US" b="1" dirty="0" err="1" smtClean="0"/>
              <a:t>cdl.h</a:t>
            </a:r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>
            <a:off x="2317945" y="2013466"/>
            <a:ext cx="1066800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/>
          <p:cNvCxnSpPr>
            <a:stCxn id="33" idx="2"/>
            <a:endCxn id="55" idx="0"/>
          </p:cNvCxnSpPr>
          <p:nvPr/>
        </p:nvCxnSpPr>
        <p:spPr>
          <a:xfrm>
            <a:off x="2851345" y="2470666"/>
            <a:ext cx="0" cy="40207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185069" y="2053352"/>
            <a:ext cx="1489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nosecam</a:t>
            </a:r>
            <a:r>
              <a:rPr lang="en-US" b="1" dirty="0" err="1" smtClean="0"/>
              <a:t>.h</a:t>
            </a:r>
            <a:endParaRPr lang="en-US" dirty="0"/>
          </a:p>
        </p:txBody>
      </p:sp>
      <p:sp>
        <p:nvSpPr>
          <p:cNvPr id="50" name="Rectangle 49"/>
          <p:cNvSpPr/>
          <p:nvPr/>
        </p:nvSpPr>
        <p:spPr>
          <a:xfrm>
            <a:off x="5142348" y="2009418"/>
            <a:ext cx="1579957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Arrow Connector 50"/>
          <p:cNvCxnSpPr>
            <a:stCxn id="50" idx="2"/>
            <a:endCxn id="61" idx="0"/>
          </p:cNvCxnSpPr>
          <p:nvPr/>
        </p:nvCxnSpPr>
        <p:spPr>
          <a:xfrm flipH="1">
            <a:off x="5932326" y="2466618"/>
            <a:ext cx="1" cy="40207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440815" y="2916674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t</a:t>
            </a:r>
            <a:r>
              <a:rPr lang="en-US" b="1" dirty="0" err="1" smtClean="0"/>
              <a:t>cdl.c</a:t>
            </a:r>
            <a:endParaRPr lang="en-US" dirty="0"/>
          </a:p>
        </p:txBody>
      </p:sp>
      <p:sp>
        <p:nvSpPr>
          <p:cNvPr id="55" name="Rectangle 54"/>
          <p:cNvSpPr/>
          <p:nvPr/>
        </p:nvSpPr>
        <p:spPr>
          <a:xfrm>
            <a:off x="2317945" y="2872740"/>
            <a:ext cx="1066800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3789207" y="2916674"/>
            <a:ext cx="95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m</a:t>
            </a:r>
            <a:r>
              <a:rPr lang="en-US" b="1" dirty="0" err="1" smtClean="0"/>
              <a:t>ain.c</a:t>
            </a:r>
            <a:endParaRPr lang="en-US" dirty="0"/>
          </a:p>
        </p:txBody>
      </p:sp>
      <p:sp>
        <p:nvSpPr>
          <p:cNvPr id="58" name="Rectangle 57"/>
          <p:cNvSpPr/>
          <p:nvPr/>
        </p:nvSpPr>
        <p:spPr>
          <a:xfrm>
            <a:off x="3735265" y="2872740"/>
            <a:ext cx="1066800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/>
          <p:cNvCxnSpPr>
            <a:stCxn id="58" idx="2"/>
            <a:endCxn id="66" idx="0"/>
          </p:cNvCxnSpPr>
          <p:nvPr/>
        </p:nvCxnSpPr>
        <p:spPr>
          <a:xfrm>
            <a:off x="4268665" y="3329940"/>
            <a:ext cx="6368" cy="40207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131862" y="2912626"/>
            <a:ext cx="1580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nosecam</a:t>
            </a:r>
            <a:r>
              <a:rPr lang="en-US" b="1" dirty="0" err="1" smtClean="0"/>
              <a:t>.c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5142347" y="2868692"/>
            <a:ext cx="1579957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Arrow Connector 63"/>
          <p:cNvCxnSpPr>
            <a:stCxn id="61" idx="2"/>
            <a:endCxn id="68" idx="0"/>
          </p:cNvCxnSpPr>
          <p:nvPr/>
        </p:nvCxnSpPr>
        <p:spPr>
          <a:xfrm>
            <a:off x="5932326" y="3325892"/>
            <a:ext cx="9935" cy="40207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3795575" y="3775948"/>
            <a:ext cx="95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m</a:t>
            </a:r>
            <a:r>
              <a:rPr lang="en-US" b="1" dirty="0" err="1" smtClean="0"/>
              <a:t>ain.o</a:t>
            </a:r>
            <a:endParaRPr lang="en-US" dirty="0"/>
          </a:p>
        </p:txBody>
      </p:sp>
      <p:sp>
        <p:nvSpPr>
          <p:cNvPr id="66" name="Rectangle 65"/>
          <p:cNvSpPr/>
          <p:nvPr/>
        </p:nvSpPr>
        <p:spPr>
          <a:xfrm>
            <a:off x="3741633" y="3732014"/>
            <a:ext cx="1066800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Straight Arrow Connector 66"/>
          <p:cNvCxnSpPr>
            <a:stCxn id="66" idx="2"/>
            <a:endCxn id="75" idx="0"/>
          </p:cNvCxnSpPr>
          <p:nvPr/>
        </p:nvCxnSpPr>
        <p:spPr>
          <a:xfrm>
            <a:off x="4275033" y="4189214"/>
            <a:ext cx="0" cy="40207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5152282" y="3727966"/>
            <a:ext cx="1579957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Straight Arrow Connector 68"/>
          <p:cNvCxnSpPr>
            <a:stCxn id="68" idx="2"/>
            <a:endCxn id="75" idx="3"/>
          </p:cNvCxnSpPr>
          <p:nvPr/>
        </p:nvCxnSpPr>
        <p:spPr>
          <a:xfrm flipH="1">
            <a:off x="5185069" y="4185166"/>
            <a:ext cx="757192" cy="63472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152282" y="3771900"/>
            <a:ext cx="1580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nosecam</a:t>
            </a:r>
            <a:r>
              <a:rPr lang="en-US" b="1" dirty="0" err="1" smtClean="0"/>
              <a:t>.o</a:t>
            </a:r>
            <a:endParaRPr lang="en-US" dirty="0"/>
          </a:p>
        </p:txBody>
      </p:sp>
      <p:sp>
        <p:nvSpPr>
          <p:cNvPr id="74" name="TextBox 73"/>
          <p:cNvSpPr txBox="1"/>
          <p:nvPr/>
        </p:nvSpPr>
        <p:spPr>
          <a:xfrm>
            <a:off x="3406047" y="4635222"/>
            <a:ext cx="1737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nosecam</a:t>
            </a:r>
            <a:r>
              <a:rPr lang="en-US" b="1" dirty="0" smtClean="0"/>
              <a:t> test</a:t>
            </a:r>
            <a:endParaRPr lang="en-US" dirty="0"/>
          </a:p>
        </p:txBody>
      </p:sp>
      <p:sp>
        <p:nvSpPr>
          <p:cNvPr id="75" name="Rectangle 74"/>
          <p:cNvSpPr/>
          <p:nvPr/>
        </p:nvSpPr>
        <p:spPr>
          <a:xfrm>
            <a:off x="3384746" y="4591288"/>
            <a:ext cx="1800323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/>
          <p:cNvCxnSpPr>
            <a:stCxn id="33" idx="2"/>
            <a:endCxn id="31" idx="0"/>
          </p:cNvCxnSpPr>
          <p:nvPr/>
        </p:nvCxnSpPr>
        <p:spPr>
          <a:xfrm flipH="1">
            <a:off x="1329231" y="2470666"/>
            <a:ext cx="1522114" cy="42493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61641" y="2939534"/>
            <a:ext cx="1319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f</a:t>
            </a:r>
            <a:r>
              <a:rPr lang="en-US" b="1" dirty="0" err="1" smtClean="0"/>
              <a:t>aketcdl.c</a:t>
            </a:r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551258" y="2895600"/>
            <a:ext cx="1555945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1345203" y="3348752"/>
            <a:ext cx="0" cy="35814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70726" y="3746778"/>
            <a:ext cx="1319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f</a:t>
            </a:r>
            <a:r>
              <a:rPr lang="en-US" b="1" dirty="0" err="1" smtClean="0"/>
              <a:t>aketcdl.o</a:t>
            </a:r>
            <a:endParaRPr lang="en-US" dirty="0"/>
          </a:p>
        </p:txBody>
      </p:sp>
      <p:sp>
        <p:nvSpPr>
          <p:cNvPr id="36" name="Rectangle 35"/>
          <p:cNvSpPr/>
          <p:nvPr/>
        </p:nvSpPr>
        <p:spPr>
          <a:xfrm>
            <a:off x="560343" y="3702844"/>
            <a:ext cx="1555945" cy="45720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/>
          <p:cNvCxnSpPr>
            <a:stCxn id="36" idx="2"/>
            <a:endCxn id="75" idx="1"/>
          </p:cNvCxnSpPr>
          <p:nvPr/>
        </p:nvCxnSpPr>
        <p:spPr>
          <a:xfrm>
            <a:off x="1338316" y="4160044"/>
            <a:ext cx="2046430" cy="65984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33" idx="2"/>
          </p:cNvCxnSpPr>
          <p:nvPr/>
        </p:nvCxnSpPr>
        <p:spPr>
          <a:xfrm>
            <a:off x="2851345" y="2470666"/>
            <a:ext cx="1150619" cy="40207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50" idx="2"/>
          </p:cNvCxnSpPr>
          <p:nvPr/>
        </p:nvCxnSpPr>
        <p:spPr>
          <a:xfrm flipH="1">
            <a:off x="4535364" y="2466618"/>
            <a:ext cx="1396963" cy="40612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1691640" y="4435971"/>
            <a:ext cx="5501640" cy="762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227922" y="4251305"/>
            <a:ext cx="790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/>
              <a:t>linker</a:t>
            </a:r>
            <a:endParaRPr lang="en-US" dirty="0"/>
          </a:p>
        </p:txBody>
      </p:sp>
      <p:cxnSp>
        <p:nvCxnSpPr>
          <p:cNvPr id="41" name="Straight Connector 40"/>
          <p:cNvCxnSpPr/>
          <p:nvPr/>
        </p:nvCxnSpPr>
        <p:spPr>
          <a:xfrm flipV="1">
            <a:off x="754380" y="3513475"/>
            <a:ext cx="6438900" cy="762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227922" y="3309759"/>
            <a:ext cx="1181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/>
              <a:t>compiler</a:t>
            </a:r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664068" y="1344930"/>
            <a:ext cx="7430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Link fake </a:t>
            </a:r>
            <a:r>
              <a:rPr lang="en-US" dirty="0" err="1" smtClean="0"/>
              <a:t>tcdl</a:t>
            </a:r>
            <a:r>
              <a:rPr lang="en-US" dirty="0" smtClean="0"/>
              <a:t> symbols to executable to isolate module under 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655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ontent Placeholder 3"/>
          <p:cNvSpPr>
            <a:spLocks noGrp="1"/>
          </p:cNvSpPr>
          <p:nvPr>
            <p:ph idx="1"/>
          </p:nvPr>
        </p:nvSpPr>
        <p:spPr>
          <a:xfrm>
            <a:off x="1577341" y="3114040"/>
            <a:ext cx="5836920" cy="904875"/>
          </a:xfrm>
        </p:spPr>
        <p:txBody>
          <a:bodyPr/>
          <a:lstStyle/>
          <a:p>
            <a:pPr marL="0" indent="0" algn="ctr" fontAlgn="base"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dirty="0" smtClean="0"/>
              <a:t>How do we write a software unit test?</a:t>
            </a:r>
          </a:p>
        </p:txBody>
      </p:sp>
    </p:spTree>
    <p:extLst>
      <p:ext uri="{BB962C8B-B14F-4D97-AF65-F5344CB8AC3E}">
        <p14:creationId xmlns:p14="http://schemas.microsoft.com/office/powerpoint/2010/main" val="2492016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Process of Writing</a:t>
            </a:r>
            <a:r>
              <a:rPr lang="en-US" altLang="en-US" dirty="0"/>
              <a:t> </a:t>
            </a:r>
            <a:r>
              <a:rPr lang="en-US" altLang="en-US" dirty="0" smtClean="0"/>
              <a:t>Tests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365760" y="1403351"/>
            <a:ext cx="8412480" cy="4311650"/>
          </a:xfrm>
        </p:spPr>
        <p:txBody>
          <a:bodyPr/>
          <a:lstStyle/>
          <a:p>
            <a:pPr marL="0" indent="0" fontAlgn="base">
              <a:spcAft>
                <a:spcPct val="0"/>
              </a:spcAft>
              <a:buFont typeface="Arial"/>
              <a:buNone/>
              <a:defRPr/>
            </a:pPr>
            <a:r>
              <a:rPr lang="en-US" altLang="en-US" dirty="0" smtClean="0"/>
              <a:t>1. Find all functions involving module</a:t>
            </a:r>
          </a:p>
          <a:p>
            <a:pPr lvl="1" eaLnBrk="1" hangingPunct="1">
              <a:defRPr/>
            </a:pPr>
            <a:r>
              <a:rPr lang="en-US" altLang="en-US" sz="2000" dirty="0" smtClean="0"/>
              <a:t>Read through source code to find where modules (Nose Camera, Infrared Beacon, and Daylight Camera) are being utilized</a:t>
            </a:r>
          </a:p>
          <a:p>
            <a:pPr marL="0" indent="0" fontAlgn="base">
              <a:spcAft>
                <a:spcPct val="0"/>
              </a:spcAft>
              <a:buFont typeface="Arial"/>
              <a:buNone/>
              <a:defRPr/>
            </a:pPr>
            <a:endParaRPr lang="en-US" altLang="en-US" sz="500" dirty="0" smtClean="0"/>
          </a:p>
          <a:p>
            <a:pPr marL="0" indent="0" fontAlgn="base">
              <a:spcAft>
                <a:spcPct val="0"/>
              </a:spcAft>
              <a:buFont typeface="Arial"/>
              <a:buNone/>
              <a:defRPr/>
            </a:pPr>
            <a:r>
              <a:rPr lang="en-US" altLang="en-US" dirty="0" smtClean="0"/>
              <a:t>2. Create a test</a:t>
            </a:r>
            <a:endParaRPr lang="en-US" altLang="en-US" dirty="0"/>
          </a:p>
          <a:p>
            <a:pPr lvl="1">
              <a:defRPr/>
            </a:pPr>
            <a:r>
              <a:rPr lang="en-US" sz="1800" b="1" dirty="0"/>
              <a:t>Setup</a:t>
            </a:r>
            <a:r>
              <a:rPr lang="en-US" sz="1800" dirty="0"/>
              <a:t>:</a:t>
            </a:r>
            <a:r>
              <a:rPr lang="en-US" sz="1800" b="0" dirty="0"/>
              <a:t> </a:t>
            </a:r>
            <a:r>
              <a:rPr lang="en-US" sz="1800" b="0" dirty="0" smtClean="0"/>
              <a:t>Setup preconditions for test</a:t>
            </a:r>
            <a:endParaRPr lang="en-US" sz="1800" b="0" dirty="0"/>
          </a:p>
          <a:p>
            <a:pPr lvl="1">
              <a:defRPr/>
            </a:pPr>
            <a:r>
              <a:rPr lang="en-US" sz="1800" b="1" dirty="0"/>
              <a:t>Exercise</a:t>
            </a:r>
            <a:r>
              <a:rPr lang="en-US" sz="1800" dirty="0"/>
              <a:t>:</a:t>
            </a:r>
            <a:r>
              <a:rPr lang="en-US" sz="1800" b="0" dirty="0"/>
              <a:t> </a:t>
            </a:r>
            <a:r>
              <a:rPr lang="en-US" sz="1800" b="0" dirty="0" smtClean="0"/>
              <a:t>Run code under test</a:t>
            </a:r>
            <a:endParaRPr lang="en-US" sz="1800" b="0" dirty="0"/>
          </a:p>
          <a:p>
            <a:pPr lvl="1">
              <a:defRPr/>
            </a:pPr>
            <a:r>
              <a:rPr lang="en-US" sz="1800" b="1" dirty="0"/>
              <a:t>Verify</a:t>
            </a:r>
            <a:r>
              <a:rPr lang="en-US" sz="1800" dirty="0"/>
              <a:t>:</a:t>
            </a:r>
            <a:r>
              <a:rPr lang="en-US" sz="1800" b="0" dirty="0"/>
              <a:t> </a:t>
            </a:r>
            <a:r>
              <a:rPr lang="en-US" sz="1800" b="0" dirty="0" smtClean="0"/>
              <a:t>Check if </a:t>
            </a:r>
            <a:r>
              <a:rPr lang="en-US" sz="1800" b="0" dirty="0"/>
              <a:t>the object under test behaved the way you </a:t>
            </a:r>
            <a:r>
              <a:rPr lang="en-US" sz="1800" b="0" dirty="0" smtClean="0"/>
              <a:t>expected (pass/fail or enabled/disabled);</a:t>
            </a:r>
            <a:endParaRPr lang="en-US" sz="1800" b="0" dirty="0"/>
          </a:p>
          <a:p>
            <a:pPr lvl="1">
              <a:defRPr/>
            </a:pPr>
            <a:r>
              <a:rPr lang="en-US" sz="1800" b="1" dirty="0"/>
              <a:t>Teardown</a:t>
            </a:r>
            <a:r>
              <a:rPr lang="en-US" sz="1800" dirty="0"/>
              <a:t>:</a:t>
            </a:r>
            <a:r>
              <a:rPr lang="en-US" sz="1800" b="0" dirty="0"/>
              <a:t> </a:t>
            </a:r>
            <a:r>
              <a:rPr lang="en-US" sz="1800" b="0" dirty="0" smtClean="0"/>
              <a:t>Return environment to </a:t>
            </a:r>
            <a:r>
              <a:rPr lang="en-US" sz="1800" b="0" dirty="0"/>
              <a:t>the initial </a:t>
            </a:r>
            <a:r>
              <a:rPr lang="en-US" sz="1800" b="0" dirty="0" smtClean="0"/>
              <a:t>state for next test</a:t>
            </a:r>
          </a:p>
          <a:p>
            <a:pPr marL="0" indent="0" fontAlgn="base">
              <a:spcAft>
                <a:spcPct val="0"/>
              </a:spcAft>
              <a:buFont typeface="Arial"/>
              <a:buNone/>
              <a:defRPr/>
            </a:pPr>
            <a:endParaRPr lang="en-US" altLang="en-US" sz="500" dirty="0"/>
          </a:p>
          <a:p>
            <a:pPr marL="0" indent="0" fontAlgn="base">
              <a:spcAft>
                <a:spcPct val="0"/>
              </a:spcAft>
              <a:buFont typeface="Arial"/>
              <a:buNone/>
              <a:defRPr/>
            </a:pPr>
            <a:r>
              <a:rPr lang="en-US" altLang="en-US" dirty="0" smtClean="0"/>
              <a:t>3. Commit to a development trunk for Jenkins</a:t>
            </a:r>
            <a:r>
              <a:rPr lang="en-US" altLang="en-US" dirty="0"/>
              <a:t> </a:t>
            </a:r>
            <a:r>
              <a:rPr lang="en-US" altLang="en-US" dirty="0" smtClean="0"/>
              <a:t>to pickup</a:t>
            </a:r>
            <a:endParaRPr lang="en-US" altLang="en-US" dirty="0"/>
          </a:p>
          <a:p>
            <a:pPr marL="0" indent="0">
              <a:buFont typeface="Arial"/>
              <a:buNone/>
              <a:defRPr/>
            </a:pPr>
            <a:endParaRPr lang="en-US" sz="2000" b="0" dirty="0"/>
          </a:p>
          <a:p>
            <a:pPr fontAlgn="base"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en-US" altLang="en-US" dirty="0" smtClean="0"/>
          </a:p>
        </p:txBody>
      </p:sp>
      <p:sp>
        <p:nvSpPr>
          <p:cNvPr id="4" name="Rectangle 3"/>
          <p:cNvSpPr/>
          <p:nvPr/>
        </p:nvSpPr>
        <p:spPr>
          <a:xfrm>
            <a:off x="746760" y="5874586"/>
            <a:ext cx="694944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eaLnBrk="1" hangingPunct="1"/>
            <a:r>
              <a:rPr lang="en-US" altLang="en-US" sz="1400" dirty="0" smtClean="0">
                <a:cs typeface="Arial" panose="020B0604020202020204" pitchFamily="34" charset="0"/>
              </a:rPr>
              <a:t>*Jenkins: Build automation server that verifies correctness of builds</a:t>
            </a:r>
            <a:endParaRPr lang="en-US" altLang="en-US" sz="1400" dirty="0"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ontent Placeholder 3"/>
          <p:cNvSpPr>
            <a:spLocks noGrp="1"/>
          </p:cNvSpPr>
          <p:nvPr>
            <p:ph idx="1"/>
          </p:nvPr>
        </p:nvSpPr>
        <p:spPr>
          <a:xfrm>
            <a:off x="1577341" y="3114040"/>
            <a:ext cx="5836920" cy="904875"/>
          </a:xfrm>
        </p:spPr>
        <p:txBody>
          <a:bodyPr/>
          <a:lstStyle/>
          <a:p>
            <a:pPr marL="0" indent="0" algn="ctr" fontAlgn="base"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dirty="0" smtClean="0"/>
              <a:t>Real Example From Project</a:t>
            </a:r>
          </a:p>
        </p:txBody>
      </p:sp>
    </p:spTree>
    <p:extLst>
      <p:ext uri="{BB962C8B-B14F-4D97-AF65-F5344CB8AC3E}">
        <p14:creationId xmlns:p14="http://schemas.microsoft.com/office/powerpoint/2010/main" val="1792251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Example Emergency Recovery/Self Destruct Test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1684866" y="1101091"/>
            <a:ext cx="6354234" cy="3253316"/>
          </a:xfrm>
        </p:spPr>
        <p:txBody>
          <a:bodyPr/>
          <a:lstStyle/>
          <a:p>
            <a:pPr marL="0" indent="0" fontAlgn="base">
              <a:spcAft>
                <a:spcPct val="0"/>
              </a:spcAft>
              <a:buFont typeface="Arial"/>
              <a:buNone/>
              <a:defRPr/>
            </a:pPr>
            <a:r>
              <a:rPr lang="en-US" altLang="en-US" sz="1800" b="0" dirty="0" smtClean="0"/>
              <a:t>TEST(</a:t>
            </a:r>
            <a:r>
              <a:rPr lang="en-US" altLang="en-US" sz="1800" b="0" dirty="0" err="1" smtClean="0"/>
              <a:t>ErsdInfraredBeaconsTests</a:t>
            </a:r>
            <a:r>
              <a:rPr lang="en-US" altLang="en-US" sz="1800" b="0" dirty="0" smtClean="0"/>
              <a:t>, </a:t>
            </a:r>
            <a:r>
              <a:rPr lang="en-US" altLang="en-US" sz="1800" b="0" dirty="0" err="1" smtClean="0"/>
              <a:t>DefaultMode</a:t>
            </a:r>
            <a:r>
              <a:rPr lang="en-US" altLang="en-US" sz="1800" b="0" dirty="0" smtClean="0"/>
              <a:t>) {</a:t>
            </a:r>
          </a:p>
          <a:p>
            <a:pPr marL="0" indent="0" fontAlgn="base">
              <a:spcAft>
                <a:spcPct val="0"/>
              </a:spcAft>
              <a:buFont typeface="Arial"/>
              <a:buNone/>
              <a:defRPr/>
            </a:pPr>
            <a:r>
              <a:rPr lang="en-US" altLang="en-US" sz="1800" b="0" dirty="0" smtClean="0"/>
              <a:t>  </a:t>
            </a:r>
            <a:r>
              <a:rPr lang="en-US" altLang="en-US" sz="1800" b="0" dirty="0" smtClean="0">
                <a:solidFill>
                  <a:srgbClr val="0070C0"/>
                </a:solidFill>
              </a:rPr>
              <a:t>// Setup</a:t>
            </a:r>
          </a:p>
          <a:p>
            <a:pPr marL="0" indent="0" fontAlgn="base">
              <a:spcAft>
                <a:spcPct val="0"/>
              </a:spcAft>
              <a:buFont typeface="Arial"/>
              <a:buNone/>
              <a:defRPr/>
            </a:pPr>
            <a:r>
              <a:rPr lang="en-US" altLang="en-US" sz="1800" b="0" dirty="0" smtClean="0">
                <a:solidFill>
                  <a:srgbClr val="0070C0"/>
                </a:solidFill>
              </a:rPr>
              <a:t>  // Exercise</a:t>
            </a:r>
          </a:p>
          <a:p>
            <a:pPr marL="0" indent="0" fontAlgn="base">
              <a:spcAft>
                <a:spcPct val="0"/>
              </a:spcAft>
              <a:buFont typeface="Arial"/>
              <a:buNone/>
              <a:defRPr/>
            </a:pPr>
            <a:r>
              <a:rPr lang="en-US" altLang="en-US" sz="1800" b="0" dirty="0">
                <a:solidFill>
                  <a:srgbClr val="0070C0"/>
                </a:solidFill>
              </a:rPr>
              <a:t> </a:t>
            </a:r>
            <a:r>
              <a:rPr lang="en-US" altLang="en-US" sz="1800" b="0" dirty="0" smtClean="0">
                <a:solidFill>
                  <a:srgbClr val="0070C0"/>
                </a:solidFill>
              </a:rPr>
              <a:t> </a:t>
            </a:r>
            <a:r>
              <a:rPr lang="en-US" altLang="en-US" sz="1800" b="0" dirty="0" err="1" smtClean="0"/>
              <a:t>statPackACMFB</a:t>
            </a:r>
            <a:r>
              <a:rPr lang="en-US" altLang="en-US" sz="1800" b="0" dirty="0" smtClean="0"/>
              <a:t>(&amp;</a:t>
            </a:r>
            <a:r>
              <a:rPr lang="en-US" altLang="en-US" sz="1800" b="0" dirty="0" err="1" smtClean="0"/>
              <a:t>msg</a:t>
            </a:r>
            <a:r>
              <a:rPr lang="en-US" altLang="en-US" sz="1800" b="0" dirty="0" smtClean="0"/>
              <a:t>); 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>
                <a:solidFill>
                  <a:srgbClr val="0070C0"/>
                </a:solidFill>
              </a:rPr>
              <a:t>  // Verify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/>
              <a:t>  </a:t>
            </a:r>
            <a:r>
              <a:rPr lang="en-US" altLang="en-US" sz="1800" b="0" dirty="0" err="1" smtClean="0"/>
              <a:t>verifyInfraredBeaconsOff</a:t>
            </a:r>
            <a:r>
              <a:rPr lang="en-US" altLang="en-US" sz="1800" b="0" dirty="0" smtClean="0"/>
              <a:t>();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/>
              <a:t>}</a:t>
            </a:r>
            <a:endParaRPr lang="en-US" altLang="en-US" sz="1800" b="0" dirty="0"/>
          </a:p>
        </p:txBody>
      </p:sp>
    </p:spTree>
    <p:extLst>
      <p:ext uri="{BB962C8B-B14F-4D97-AF65-F5344CB8AC3E}">
        <p14:creationId xmlns:p14="http://schemas.microsoft.com/office/powerpoint/2010/main" val="4149089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Example Emergency Recovery/Self Destruct Test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1684866" y="1101091"/>
            <a:ext cx="6796194" cy="3253316"/>
          </a:xfrm>
        </p:spPr>
        <p:txBody>
          <a:bodyPr/>
          <a:lstStyle/>
          <a:p>
            <a:pPr marL="0" indent="0" fontAlgn="base">
              <a:spcAft>
                <a:spcPct val="0"/>
              </a:spcAft>
              <a:buFont typeface="Arial"/>
              <a:buNone/>
              <a:defRPr/>
            </a:pP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TEST(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ErsdInfraredBeaconsTests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DefaultMode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) {</a:t>
            </a:r>
          </a:p>
          <a:p>
            <a:pPr marL="0" indent="0" fontAlgn="base">
              <a:spcAft>
                <a:spcPct val="0"/>
              </a:spcAft>
              <a:buFont typeface="Arial"/>
              <a:buNone/>
              <a:defRPr/>
            </a:pP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  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statPackACMFB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(&amp;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msg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); 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  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verifyInfraredBeaconsOff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();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}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/>
              <a:t>TEST(</a:t>
            </a:r>
            <a:r>
              <a:rPr lang="en-US" altLang="en-US" sz="1800" b="0" dirty="0" err="1" smtClean="0"/>
              <a:t>ErsdInfraredBeaconsTests</a:t>
            </a:r>
            <a:r>
              <a:rPr lang="en-US" altLang="en-US" sz="1800" b="0" dirty="0" smtClean="0"/>
              <a:t>, </a:t>
            </a:r>
            <a:r>
              <a:rPr lang="en-US" altLang="en-US" sz="1800" b="0" dirty="0" err="1" smtClean="0"/>
              <a:t>EnableWhenInRecovery</a:t>
            </a:r>
            <a:r>
              <a:rPr lang="en-US" altLang="en-US" sz="1800" b="0" dirty="0" smtClean="0"/>
              <a:t>) {</a:t>
            </a:r>
          </a:p>
        </p:txBody>
      </p:sp>
    </p:spTree>
    <p:extLst>
      <p:ext uri="{BB962C8B-B14F-4D97-AF65-F5344CB8AC3E}">
        <p14:creationId xmlns:p14="http://schemas.microsoft.com/office/powerpoint/2010/main" val="4208527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Example Emergency Recovery/Self Destruct Test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1684866" y="1101091"/>
            <a:ext cx="6796194" cy="3253316"/>
          </a:xfrm>
        </p:spPr>
        <p:txBody>
          <a:bodyPr/>
          <a:lstStyle/>
          <a:p>
            <a:pPr marL="0" indent="0" fontAlgn="base">
              <a:spcAft>
                <a:spcPct val="0"/>
              </a:spcAft>
              <a:buFont typeface="Arial"/>
              <a:buNone/>
              <a:defRPr/>
            </a:pP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TEST(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ErsdInfraredBeaconsTests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DefaultMode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) {</a:t>
            </a:r>
          </a:p>
          <a:p>
            <a:pPr marL="0" indent="0" fontAlgn="base">
              <a:spcAft>
                <a:spcPct val="0"/>
              </a:spcAft>
              <a:buFont typeface="Arial"/>
              <a:buNone/>
              <a:defRPr/>
            </a:pP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  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statPackACMFB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(&amp;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msg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); 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  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verifyInfraredBeaconsOff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();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}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/>
              <a:t>TEST(</a:t>
            </a:r>
            <a:r>
              <a:rPr lang="en-US" altLang="en-US" sz="1800" b="0" dirty="0" err="1" smtClean="0"/>
              <a:t>ErsdInfraredBeaconsTests</a:t>
            </a:r>
            <a:r>
              <a:rPr lang="en-US" altLang="en-US" sz="1800" b="0" dirty="0" smtClean="0"/>
              <a:t>, </a:t>
            </a:r>
            <a:r>
              <a:rPr lang="en-US" altLang="en-US" sz="1800" b="0" dirty="0" err="1" smtClean="0"/>
              <a:t>EnableWhenInRecovery</a:t>
            </a:r>
            <a:r>
              <a:rPr lang="en-US" altLang="en-US" sz="1800" b="0" dirty="0" smtClean="0"/>
              <a:t>) {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/>
              <a:t> </a:t>
            </a:r>
            <a:r>
              <a:rPr lang="en-US" altLang="en-US" sz="1800" b="0" dirty="0" smtClean="0"/>
              <a:t> </a:t>
            </a:r>
            <a:r>
              <a:rPr lang="en-US" altLang="en-US" sz="1800" b="0" dirty="0" err="1" smtClean="0"/>
              <a:t>setPlaneToRecovery</a:t>
            </a:r>
            <a:r>
              <a:rPr lang="en-US" altLang="en-US" sz="1800" b="0" dirty="0" smtClean="0"/>
              <a:t>();            </a:t>
            </a:r>
            <a:r>
              <a:rPr lang="en-US" altLang="en-US" sz="1800" b="0" dirty="0" smtClean="0">
                <a:solidFill>
                  <a:srgbClr val="0070C0"/>
                </a:solidFill>
              </a:rPr>
              <a:t>// Setup</a:t>
            </a:r>
            <a:endParaRPr lang="en-US" altLang="en-US" sz="1800" b="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9586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Example Emergency Recovery/Self Destruct Test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1684866" y="1101091"/>
            <a:ext cx="6796194" cy="3253316"/>
          </a:xfrm>
        </p:spPr>
        <p:txBody>
          <a:bodyPr/>
          <a:lstStyle/>
          <a:p>
            <a:pPr marL="0" indent="0" fontAlgn="base">
              <a:spcAft>
                <a:spcPct val="0"/>
              </a:spcAft>
              <a:buFont typeface="Arial"/>
              <a:buNone/>
              <a:defRPr/>
            </a:pP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TEST(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ErsdInfraredBeaconsTests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DefaultMode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) {</a:t>
            </a:r>
          </a:p>
          <a:p>
            <a:pPr marL="0" indent="0" fontAlgn="base">
              <a:spcAft>
                <a:spcPct val="0"/>
              </a:spcAft>
              <a:buFont typeface="Arial"/>
              <a:buNone/>
              <a:defRPr/>
            </a:pP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  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statPackACMFB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(&amp;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msg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); 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  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verifyInfraredBeaconsOff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();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}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/>
              <a:t>TEST(</a:t>
            </a:r>
            <a:r>
              <a:rPr lang="en-US" altLang="en-US" sz="1800" b="0" dirty="0" err="1" smtClean="0"/>
              <a:t>ErsdInfraredBeaconsTests</a:t>
            </a:r>
            <a:r>
              <a:rPr lang="en-US" altLang="en-US" sz="1800" b="0" dirty="0" smtClean="0"/>
              <a:t>, </a:t>
            </a:r>
            <a:r>
              <a:rPr lang="en-US" altLang="en-US" sz="1800" b="0" dirty="0" err="1" smtClean="0"/>
              <a:t>EnableWhenInRecovery</a:t>
            </a:r>
            <a:r>
              <a:rPr lang="en-US" altLang="en-US" sz="1800" b="0" dirty="0" smtClean="0"/>
              <a:t>) {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/>
              <a:t> </a:t>
            </a:r>
            <a:r>
              <a:rPr lang="en-US" altLang="en-US" sz="1800" b="0" dirty="0" smtClean="0"/>
              <a:t> </a:t>
            </a:r>
            <a:r>
              <a:rPr lang="en-US" altLang="en-US" sz="1800" b="0" dirty="0" err="1" smtClean="0"/>
              <a:t>setPlaneToRecovery</a:t>
            </a:r>
            <a:r>
              <a:rPr lang="en-US" altLang="en-US" sz="1800" b="0" dirty="0" smtClean="0"/>
              <a:t>();             </a:t>
            </a:r>
            <a:endParaRPr lang="en-US" altLang="en-US" sz="1800" b="0" dirty="0" smtClean="0">
              <a:solidFill>
                <a:srgbClr val="0070C0"/>
              </a:solidFill>
            </a:endParaRP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/>
              <a:t> </a:t>
            </a:r>
            <a:r>
              <a:rPr lang="en-US" altLang="en-US" sz="1800" b="0" dirty="0" smtClean="0"/>
              <a:t> </a:t>
            </a:r>
            <a:r>
              <a:rPr lang="en-US" altLang="en-US" sz="1800" b="0" dirty="0" err="1" smtClean="0"/>
              <a:t>statPackACMFB</a:t>
            </a:r>
            <a:r>
              <a:rPr lang="en-US" altLang="en-US" sz="1800" b="0" dirty="0" smtClean="0"/>
              <a:t>(&amp;</a:t>
            </a:r>
            <a:r>
              <a:rPr lang="en-US" altLang="en-US" sz="1800" b="0" dirty="0" err="1" smtClean="0"/>
              <a:t>msg</a:t>
            </a:r>
            <a:r>
              <a:rPr lang="en-US" altLang="en-US" sz="1800" b="0" dirty="0" smtClean="0"/>
              <a:t>);          </a:t>
            </a:r>
            <a:r>
              <a:rPr lang="en-US" altLang="en-US" sz="1800" b="0" dirty="0" smtClean="0">
                <a:solidFill>
                  <a:srgbClr val="0070C0"/>
                </a:solidFill>
              </a:rPr>
              <a:t>// Exercise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/>
              <a:t> </a:t>
            </a:r>
            <a:r>
              <a:rPr lang="en-US" altLang="en-US" sz="1800" b="0" dirty="0" smtClean="0"/>
              <a:t> </a:t>
            </a:r>
            <a:endParaRPr lang="en-US" altLang="en-US" sz="1800" b="0" dirty="0"/>
          </a:p>
        </p:txBody>
      </p:sp>
    </p:spTree>
    <p:extLst>
      <p:ext uri="{BB962C8B-B14F-4D97-AF65-F5344CB8AC3E}">
        <p14:creationId xmlns:p14="http://schemas.microsoft.com/office/powerpoint/2010/main" val="2190167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Example Emergency Recovery/Self Destruct Test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1684866" y="1101091"/>
            <a:ext cx="6796194" cy="3253316"/>
          </a:xfrm>
        </p:spPr>
        <p:txBody>
          <a:bodyPr/>
          <a:lstStyle/>
          <a:p>
            <a:pPr marL="0" indent="0" fontAlgn="base">
              <a:spcAft>
                <a:spcPct val="0"/>
              </a:spcAft>
              <a:buFont typeface="Arial"/>
              <a:buNone/>
              <a:defRPr/>
            </a:pP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TEST(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ErsdInfraredBeaconsTests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DefaultMode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) {</a:t>
            </a:r>
          </a:p>
          <a:p>
            <a:pPr marL="0" indent="0" fontAlgn="base">
              <a:spcAft>
                <a:spcPct val="0"/>
              </a:spcAft>
              <a:buFont typeface="Arial"/>
              <a:buNone/>
              <a:defRPr/>
            </a:pP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  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statPackACMFB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(&amp;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msg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); 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  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verifyInfraredBeaconsOff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();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}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/>
              <a:t>TEST(</a:t>
            </a:r>
            <a:r>
              <a:rPr lang="en-US" altLang="en-US" sz="1800" b="0" dirty="0" err="1" smtClean="0"/>
              <a:t>ErsdInfraredBeaconsTests</a:t>
            </a:r>
            <a:r>
              <a:rPr lang="en-US" altLang="en-US" sz="1800" b="0" dirty="0" smtClean="0"/>
              <a:t>, </a:t>
            </a:r>
            <a:r>
              <a:rPr lang="en-US" altLang="en-US" sz="1800" b="0" dirty="0" err="1" smtClean="0"/>
              <a:t>EnableWhenInRecovery</a:t>
            </a:r>
            <a:r>
              <a:rPr lang="en-US" altLang="en-US" sz="1800" b="0" dirty="0" smtClean="0"/>
              <a:t>) {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/>
              <a:t> </a:t>
            </a:r>
            <a:r>
              <a:rPr lang="en-US" altLang="en-US" sz="1800" b="0" dirty="0" smtClean="0"/>
              <a:t> </a:t>
            </a:r>
            <a:r>
              <a:rPr lang="en-US" altLang="en-US" sz="1800" b="0" dirty="0" err="1" smtClean="0"/>
              <a:t>setPlaneToRecovery</a:t>
            </a:r>
            <a:r>
              <a:rPr lang="en-US" altLang="en-US" sz="1800" b="0" dirty="0" smtClean="0"/>
              <a:t>();             </a:t>
            </a:r>
            <a:endParaRPr lang="en-US" altLang="en-US" sz="1800" b="0" dirty="0" smtClean="0">
              <a:solidFill>
                <a:srgbClr val="0070C0"/>
              </a:solidFill>
            </a:endParaRP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/>
              <a:t> </a:t>
            </a:r>
            <a:r>
              <a:rPr lang="en-US" altLang="en-US" sz="1800" b="0" dirty="0" smtClean="0"/>
              <a:t> </a:t>
            </a:r>
            <a:r>
              <a:rPr lang="en-US" altLang="en-US" sz="1800" b="0" dirty="0" err="1" smtClean="0"/>
              <a:t>statPackACMFB</a:t>
            </a:r>
            <a:r>
              <a:rPr lang="en-US" altLang="en-US" sz="1800" b="0" dirty="0" smtClean="0"/>
              <a:t>(&amp;</a:t>
            </a:r>
            <a:r>
              <a:rPr lang="en-US" altLang="en-US" sz="1800" b="0" dirty="0" err="1" smtClean="0"/>
              <a:t>msg</a:t>
            </a:r>
            <a:r>
              <a:rPr lang="en-US" altLang="en-US" sz="1800" b="0" dirty="0" smtClean="0"/>
              <a:t>);          </a:t>
            </a:r>
            <a:r>
              <a:rPr lang="en-US" altLang="en-US" sz="1800" b="0" dirty="0" smtClean="0">
                <a:solidFill>
                  <a:srgbClr val="0070C0"/>
                </a:solidFill>
              </a:rPr>
              <a:t> 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/>
              <a:t>  </a:t>
            </a:r>
            <a:r>
              <a:rPr lang="en-US" altLang="en-US" sz="1800" b="0" dirty="0" err="1" smtClean="0"/>
              <a:t>verifyInfraredBeaconsOn</a:t>
            </a:r>
            <a:r>
              <a:rPr lang="en-US" altLang="en-US" sz="1800" b="0" dirty="0" smtClean="0"/>
              <a:t>();      </a:t>
            </a:r>
            <a:r>
              <a:rPr lang="en-US" altLang="en-US" sz="1800" b="0" dirty="0" smtClean="0">
                <a:solidFill>
                  <a:srgbClr val="0070C0"/>
                </a:solidFill>
              </a:rPr>
              <a:t>// Verify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/>
              <a:t>}</a:t>
            </a:r>
            <a:endParaRPr lang="en-US" altLang="en-US" sz="1800" b="0" dirty="0"/>
          </a:p>
        </p:txBody>
      </p:sp>
    </p:spTree>
    <p:extLst>
      <p:ext uri="{BB962C8B-B14F-4D97-AF65-F5344CB8AC3E}">
        <p14:creationId xmlns:p14="http://schemas.microsoft.com/office/powerpoint/2010/main" val="609322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Example Emergency Recovery/Self Destruct Test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1684866" y="1101090"/>
            <a:ext cx="7078134" cy="4568189"/>
          </a:xfrm>
        </p:spPr>
        <p:txBody>
          <a:bodyPr/>
          <a:lstStyle/>
          <a:p>
            <a:pPr marL="0" indent="0" fontAlgn="base">
              <a:spcAft>
                <a:spcPct val="0"/>
              </a:spcAft>
              <a:buFont typeface="Arial"/>
              <a:buNone/>
              <a:defRPr/>
            </a:pP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TEST(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ErsdInfraredBeaconsTests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DefaultMode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) {</a:t>
            </a:r>
          </a:p>
          <a:p>
            <a:pPr marL="0" indent="0" fontAlgn="base">
              <a:spcAft>
                <a:spcPct val="0"/>
              </a:spcAft>
              <a:buFont typeface="Arial"/>
              <a:buNone/>
              <a:defRPr/>
            </a:pP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  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statPackACMFB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(&amp;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msg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); 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  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verifyInfraredBeaconsOff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();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}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TEST(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ErsdInfraredBeaconsTests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EnableWhenInRecovery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) {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setPlaneToRecovery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();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statPackACMFB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(&amp;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msg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);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verifyInfraredBeaconsOn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();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}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/>
              <a:t>TEST(</a:t>
            </a:r>
            <a:r>
              <a:rPr lang="en-US" altLang="en-US" sz="1800" b="0" dirty="0" err="1" smtClean="0"/>
              <a:t>ErsdInfraredBeaconsTests</a:t>
            </a:r>
            <a:r>
              <a:rPr lang="en-US" altLang="en-US" sz="1800" b="0" dirty="0" smtClean="0"/>
              <a:t>, </a:t>
            </a:r>
            <a:r>
              <a:rPr lang="en-US" altLang="en-US" sz="1800" b="0" dirty="0" err="1" smtClean="0"/>
              <a:t>DisableWhenSelfDestructing</a:t>
            </a:r>
            <a:r>
              <a:rPr lang="en-US" altLang="en-US" sz="1800" b="0" dirty="0" smtClean="0"/>
              <a:t>) {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/>
              <a:t>  </a:t>
            </a:r>
            <a:endParaRPr lang="en-US" altLang="en-US" sz="1800" b="0" dirty="0"/>
          </a:p>
        </p:txBody>
      </p:sp>
    </p:spTree>
    <p:extLst>
      <p:ext uri="{BB962C8B-B14F-4D97-AF65-F5344CB8AC3E}">
        <p14:creationId xmlns:p14="http://schemas.microsoft.com/office/powerpoint/2010/main" val="748077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Example Emergency Recovery/Self Destruct Test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1684866" y="1101090"/>
            <a:ext cx="7078134" cy="4568189"/>
          </a:xfrm>
        </p:spPr>
        <p:txBody>
          <a:bodyPr/>
          <a:lstStyle/>
          <a:p>
            <a:pPr marL="0" indent="0" fontAlgn="base">
              <a:spcAft>
                <a:spcPct val="0"/>
              </a:spcAft>
              <a:buFont typeface="Arial"/>
              <a:buNone/>
              <a:defRPr/>
            </a:pP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TEST(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ErsdInfraredBeaconsTests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DefaultMode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) {</a:t>
            </a:r>
          </a:p>
          <a:p>
            <a:pPr marL="0" indent="0" fontAlgn="base">
              <a:spcAft>
                <a:spcPct val="0"/>
              </a:spcAft>
              <a:buFont typeface="Arial"/>
              <a:buNone/>
              <a:defRPr/>
            </a:pP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  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statPackACMFB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(&amp;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msg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); 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  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verifyInfraredBeaconsOff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();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}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TEST(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ErsdInfraredBeaconsTests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EnableWhenInRecovery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) {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setPlaneToRecovery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();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statPackACMFB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(&amp;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msg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);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verifyInfraredBeaconsOn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();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}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/>
              <a:t>TEST(</a:t>
            </a:r>
            <a:r>
              <a:rPr lang="en-US" altLang="en-US" sz="1800" b="0" dirty="0" err="1" smtClean="0"/>
              <a:t>ErsdInfraredBeaconsTests</a:t>
            </a:r>
            <a:r>
              <a:rPr lang="en-US" altLang="en-US" sz="1800" b="0" dirty="0" smtClean="0"/>
              <a:t>, </a:t>
            </a:r>
            <a:r>
              <a:rPr lang="en-US" altLang="en-US" sz="1800" b="0" dirty="0" err="1" smtClean="0"/>
              <a:t>DisableWhenSelfDestructing</a:t>
            </a:r>
            <a:r>
              <a:rPr lang="en-US" altLang="en-US" sz="1800" b="0" dirty="0" smtClean="0"/>
              <a:t>) {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/>
              <a:t>  </a:t>
            </a:r>
            <a:r>
              <a:rPr lang="en-US" altLang="en-US" sz="1800" b="0" dirty="0" err="1" smtClean="0"/>
              <a:t>setPlaneToSelfDestruct</a:t>
            </a:r>
            <a:r>
              <a:rPr lang="en-US" altLang="en-US" sz="1800" b="0" dirty="0" smtClean="0"/>
              <a:t>();         </a:t>
            </a:r>
            <a:r>
              <a:rPr lang="en-US" altLang="en-US" sz="1800" b="0" dirty="0" smtClean="0">
                <a:solidFill>
                  <a:srgbClr val="0070C0"/>
                </a:solidFill>
              </a:rPr>
              <a:t>// Setup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endParaRPr lang="en-US" altLang="en-US" sz="1800" b="0" dirty="0"/>
          </a:p>
        </p:txBody>
      </p:sp>
    </p:spTree>
    <p:extLst>
      <p:ext uri="{BB962C8B-B14F-4D97-AF65-F5344CB8AC3E}">
        <p14:creationId xmlns:p14="http://schemas.microsoft.com/office/powerpoint/2010/main" val="2160474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Example Emergency Recovery/Self Destruct Test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1684866" y="1101090"/>
            <a:ext cx="7078134" cy="4568189"/>
          </a:xfrm>
        </p:spPr>
        <p:txBody>
          <a:bodyPr/>
          <a:lstStyle/>
          <a:p>
            <a:pPr marL="0" indent="0" fontAlgn="base">
              <a:spcAft>
                <a:spcPct val="0"/>
              </a:spcAft>
              <a:buFont typeface="Arial"/>
              <a:buNone/>
              <a:defRPr/>
            </a:pP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TEST(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ErsdInfraredBeaconsTests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DefaultMode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) {</a:t>
            </a:r>
          </a:p>
          <a:p>
            <a:pPr marL="0" indent="0" fontAlgn="base">
              <a:spcAft>
                <a:spcPct val="0"/>
              </a:spcAft>
              <a:buFont typeface="Arial"/>
              <a:buNone/>
              <a:defRPr/>
            </a:pP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  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statPackACMFB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(&amp;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msg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); 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  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verifyInfraredBeaconsOff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();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}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TEST(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ErsdInfraredBeaconsTests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EnableWhenInRecovery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) {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setPlaneToRecovery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();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statPackACMFB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(&amp;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msg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);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verifyInfraredBeaconsOn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();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}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/>
              <a:t>TEST(</a:t>
            </a:r>
            <a:r>
              <a:rPr lang="en-US" altLang="en-US" sz="1800" b="0" dirty="0" err="1" smtClean="0"/>
              <a:t>ErsdInfraredBeaconsTests</a:t>
            </a:r>
            <a:r>
              <a:rPr lang="en-US" altLang="en-US" sz="1800" b="0" dirty="0" smtClean="0"/>
              <a:t>, </a:t>
            </a:r>
            <a:r>
              <a:rPr lang="en-US" altLang="en-US" sz="1800" b="0" dirty="0" err="1" smtClean="0"/>
              <a:t>DisableWhenSelfDestructing</a:t>
            </a:r>
            <a:r>
              <a:rPr lang="en-US" altLang="en-US" sz="1800" b="0" dirty="0" smtClean="0"/>
              <a:t>) {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/>
              <a:t>  </a:t>
            </a:r>
            <a:r>
              <a:rPr lang="en-US" altLang="en-US" sz="1800" b="0" dirty="0" err="1" smtClean="0"/>
              <a:t>setPlaneToSelfDestruct</a:t>
            </a:r>
            <a:r>
              <a:rPr lang="en-US" altLang="en-US" sz="1800" b="0" dirty="0" smtClean="0"/>
              <a:t>();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/>
              <a:t> </a:t>
            </a:r>
            <a:r>
              <a:rPr lang="en-US" altLang="en-US" sz="1800" b="0" dirty="0" smtClean="0"/>
              <a:t> </a:t>
            </a:r>
            <a:r>
              <a:rPr lang="en-US" altLang="en-US" sz="1800" b="0" dirty="0" err="1" smtClean="0"/>
              <a:t>statPackACMFB</a:t>
            </a:r>
            <a:r>
              <a:rPr lang="en-US" altLang="en-US" sz="1800" b="0" dirty="0" smtClean="0"/>
              <a:t>(&amp;</a:t>
            </a:r>
            <a:r>
              <a:rPr lang="en-US" altLang="en-US" sz="1800" b="0" dirty="0" err="1" smtClean="0"/>
              <a:t>msg</a:t>
            </a:r>
            <a:r>
              <a:rPr lang="en-US" altLang="en-US" sz="1800" b="0" dirty="0" smtClean="0"/>
              <a:t>);           </a:t>
            </a:r>
            <a:r>
              <a:rPr lang="en-US" altLang="en-US" sz="1800" b="0" dirty="0" smtClean="0">
                <a:solidFill>
                  <a:srgbClr val="0070C0"/>
                </a:solidFill>
              </a:rPr>
              <a:t>// Exercise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endParaRPr lang="en-US" altLang="en-US" sz="1800" b="0" dirty="0" smtClean="0"/>
          </a:p>
          <a:p>
            <a:pPr marL="0" indent="0" fontAlgn="base">
              <a:spcAft>
                <a:spcPct val="0"/>
              </a:spcAft>
              <a:buNone/>
              <a:defRPr/>
            </a:pPr>
            <a:endParaRPr lang="en-US" altLang="en-US" sz="1800" b="0" dirty="0"/>
          </a:p>
        </p:txBody>
      </p:sp>
    </p:spTree>
    <p:extLst>
      <p:ext uri="{BB962C8B-B14F-4D97-AF65-F5344CB8AC3E}">
        <p14:creationId xmlns:p14="http://schemas.microsoft.com/office/powerpoint/2010/main" val="627334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Example Emergency Recovery/Self Destruct Test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1684866" y="1101090"/>
            <a:ext cx="7078134" cy="4568189"/>
          </a:xfrm>
        </p:spPr>
        <p:txBody>
          <a:bodyPr/>
          <a:lstStyle/>
          <a:p>
            <a:pPr marL="0" indent="0" fontAlgn="base">
              <a:spcAft>
                <a:spcPct val="0"/>
              </a:spcAft>
              <a:buFont typeface="Arial"/>
              <a:buNone/>
              <a:defRPr/>
            </a:pP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TEST(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ErsdInfraredBeaconsTests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DefaultMode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) {</a:t>
            </a:r>
          </a:p>
          <a:p>
            <a:pPr marL="0" indent="0" fontAlgn="base">
              <a:spcAft>
                <a:spcPct val="0"/>
              </a:spcAft>
              <a:buFont typeface="Arial"/>
              <a:buNone/>
              <a:defRPr/>
            </a:pP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  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statPackACMFB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(&amp;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msg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); 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  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verifyInfraredBeaconsOff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();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}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TEST(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ErsdInfraredBeaconsTests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EnableWhenInRecovery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) {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setPlaneToRecovery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();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statPackACMFB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(&amp;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msg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);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en-US" sz="1800" b="0" dirty="0" err="1" smtClean="0">
                <a:solidFill>
                  <a:schemeClr val="bg1">
                    <a:lumMod val="75000"/>
                  </a:schemeClr>
                </a:solidFill>
              </a:rPr>
              <a:t>verifyInfraredBeaconsOn</a:t>
            </a: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();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>
                <a:solidFill>
                  <a:schemeClr val="bg1">
                    <a:lumMod val="75000"/>
                  </a:schemeClr>
                </a:solidFill>
              </a:rPr>
              <a:t>}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/>
              <a:t>TEST(</a:t>
            </a:r>
            <a:r>
              <a:rPr lang="en-US" altLang="en-US" sz="1800" b="0" dirty="0" err="1" smtClean="0"/>
              <a:t>ErsdInfraredBeaconsTests</a:t>
            </a:r>
            <a:r>
              <a:rPr lang="en-US" altLang="en-US" sz="1800" b="0" dirty="0" smtClean="0"/>
              <a:t>, </a:t>
            </a:r>
            <a:r>
              <a:rPr lang="en-US" altLang="en-US" sz="1800" b="0" dirty="0" err="1" smtClean="0"/>
              <a:t>DisableWhenSelfDestructing</a:t>
            </a:r>
            <a:r>
              <a:rPr lang="en-US" altLang="en-US" sz="1800" b="0" dirty="0" smtClean="0"/>
              <a:t>) {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/>
              <a:t>  </a:t>
            </a:r>
            <a:r>
              <a:rPr lang="en-US" altLang="en-US" sz="1800" b="0" dirty="0" err="1" smtClean="0"/>
              <a:t>setPlaneToSelfDestruct</a:t>
            </a:r>
            <a:r>
              <a:rPr lang="en-US" altLang="en-US" sz="1800" b="0" dirty="0" smtClean="0"/>
              <a:t>();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/>
              <a:t> </a:t>
            </a:r>
            <a:r>
              <a:rPr lang="en-US" altLang="en-US" sz="1800" b="0" dirty="0" smtClean="0"/>
              <a:t> </a:t>
            </a:r>
            <a:r>
              <a:rPr lang="en-US" altLang="en-US" sz="1800" b="0" dirty="0" err="1" smtClean="0"/>
              <a:t>statPackACMFB</a:t>
            </a:r>
            <a:r>
              <a:rPr lang="en-US" altLang="en-US" sz="1800" b="0" dirty="0" smtClean="0"/>
              <a:t>(&amp;</a:t>
            </a:r>
            <a:r>
              <a:rPr lang="en-US" altLang="en-US" sz="1800" b="0" dirty="0" err="1" smtClean="0"/>
              <a:t>msg</a:t>
            </a:r>
            <a:r>
              <a:rPr lang="en-US" altLang="en-US" sz="1800" b="0" dirty="0" smtClean="0"/>
              <a:t>);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/>
              <a:t>  </a:t>
            </a:r>
            <a:r>
              <a:rPr lang="en-US" altLang="en-US" sz="1800" b="0" dirty="0" err="1" smtClean="0"/>
              <a:t>verifyInfraredBeaconsOff</a:t>
            </a:r>
            <a:r>
              <a:rPr lang="en-US" altLang="en-US" sz="1800" b="0" dirty="0" smtClean="0"/>
              <a:t>();     </a:t>
            </a:r>
            <a:r>
              <a:rPr lang="en-US" altLang="en-US" sz="1800" b="0" dirty="0" smtClean="0">
                <a:solidFill>
                  <a:srgbClr val="0070C0"/>
                </a:solidFill>
              </a:rPr>
              <a:t>// Verify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/>
              <a:t>}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endParaRPr lang="en-US" altLang="en-US" sz="1800" b="0" dirty="0" smtClean="0"/>
          </a:p>
          <a:p>
            <a:pPr marL="0" indent="0" fontAlgn="base">
              <a:spcAft>
                <a:spcPct val="0"/>
              </a:spcAft>
              <a:buNone/>
              <a:defRPr/>
            </a:pPr>
            <a:endParaRPr lang="en-US" altLang="en-US" sz="1800" b="0" dirty="0"/>
          </a:p>
        </p:txBody>
      </p:sp>
    </p:spTree>
    <p:extLst>
      <p:ext uri="{BB962C8B-B14F-4D97-AF65-F5344CB8AC3E}">
        <p14:creationId xmlns:p14="http://schemas.microsoft.com/office/powerpoint/2010/main" val="3579199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Example Emergency Recovery/Self Destruct Test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1684866" y="1101090"/>
            <a:ext cx="7078134" cy="4568189"/>
          </a:xfrm>
        </p:spPr>
        <p:txBody>
          <a:bodyPr/>
          <a:lstStyle/>
          <a:p>
            <a:pPr marL="0" indent="0" fontAlgn="base">
              <a:spcAft>
                <a:spcPct val="0"/>
              </a:spcAft>
              <a:buFont typeface="Arial"/>
              <a:buNone/>
              <a:defRPr/>
            </a:pPr>
            <a:r>
              <a:rPr lang="en-US" altLang="en-US" sz="1800" b="0" dirty="0" smtClean="0"/>
              <a:t>TEST(</a:t>
            </a:r>
            <a:r>
              <a:rPr lang="en-US" altLang="en-US" sz="1800" b="0" dirty="0" err="1" smtClean="0"/>
              <a:t>ErsdInfraredBeaconsTests</a:t>
            </a:r>
            <a:r>
              <a:rPr lang="en-US" altLang="en-US" sz="1800" b="0" dirty="0" smtClean="0"/>
              <a:t>, </a:t>
            </a:r>
            <a:r>
              <a:rPr lang="en-US" altLang="en-US" sz="1800" b="0" dirty="0" err="1" smtClean="0"/>
              <a:t>DefaultMode</a:t>
            </a:r>
            <a:r>
              <a:rPr lang="en-US" altLang="en-US" sz="1800" b="0" dirty="0" smtClean="0"/>
              <a:t>) {</a:t>
            </a:r>
          </a:p>
          <a:p>
            <a:pPr marL="0" indent="0" fontAlgn="base">
              <a:spcAft>
                <a:spcPct val="0"/>
              </a:spcAft>
              <a:buFont typeface="Arial"/>
              <a:buNone/>
              <a:defRPr/>
            </a:pPr>
            <a:r>
              <a:rPr lang="en-US" altLang="en-US" sz="1800" b="0" dirty="0" smtClean="0"/>
              <a:t>  </a:t>
            </a:r>
            <a:r>
              <a:rPr lang="en-US" altLang="en-US" sz="1800" b="0" dirty="0" err="1" smtClean="0"/>
              <a:t>statPackACMFB</a:t>
            </a:r>
            <a:r>
              <a:rPr lang="en-US" altLang="en-US" sz="1800" b="0" dirty="0" smtClean="0"/>
              <a:t>(&amp;</a:t>
            </a:r>
            <a:r>
              <a:rPr lang="en-US" altLang="en-US" sz="1800" b="0" dirty="0" err="1" smtClean="0"/>
              <a:t>msg</a:t>
            </a:r>
            <a:r>
              <a:rPr lang="en-US" altLang="en-US" sz="1800" b="0" dirty="0" smtClean="0"/>
              <a:t>); 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/>
              <a:t>  </a:t>
            </a:r>
            <a:r>
              <a:rPr lang="en-US" altLang="en-US" sz="1800" b="0" dirty="0" err="1" smtClean="0"/>
              <a:t>verifyInfraredBeaconsOff</a:t>
            </a:r>
            <a:r>
              <a:rPr lang="en-US" altLang="en-US" sz="1800" b="0" dirty="0" smtClean="0"/>
              <a:t>();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/>
              <a:t>}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/>
              <a:t>TEST(</a:t>
            </a:r>
            <a:r>
              <a:rPr lang="en-US" altLang="en-US" sz="1800" b="0" dirty="0" err="1" smtClean="0"/>
              <a:t>ErsdInfraredBeaconsTests</a:t>
            </a:r>
            <a:r>
              <a:rPr lang="en-US" altLang="en-US" sz="1800" b="0" dirty="0" smtClean="0"/>
              <a:t>, </a:t>
            </a:r>
            <a:r>
              <a:rPr lang="en-US" altLang="en-US" sz="1800" b="0" dirty="0" err="1" smtClean="0"/>
              <a:t>EnableWhenInRecovery</a:t>
            </a:r>
            <a:r>
              <a:rPr lang="en-US" altLang="en-US" sz="1800" b="0" dirty="0" smtClean="0"/>
              <a:t>) {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/>
              <a:t> </a:t>
            </a:r>
            <a:r>
              <a:rPr lang="en-US" altLang="en-US" sz="1800" b="0" dirty="0" smtClean="0"/>
              <a:t> </a:t>
            </a:r>
            <a:r>
              <a:rPr lang="en-US" altLang="en-US" sz="1800" b="0" dirty="0" err="1" smtClean="0"/>
              <a:t>setPlaneToRecovery</a:t>
            </a:r>
            <a:r>
              <a:rPr lang="en-US" altLang="en-US" sz="1800" b="0" dirty="0" smtClean="0"/>
              <a:t>();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/>
              <a:t> </a:t>
            </a:r>
            <a:r>
              <a:rPr lang="en-US" altLang="en-US" sz="1800" b="0" dirty="0" smtClean="0"/>
              <a:t> </a:t>
            </a:r>
            <a:r>
              <a:rPr lang="en-US" altLang="en-US" sz="1800" b="0" dirty="0" err="1" smtClean="0"/>
              <a:t>statPackACMFB</a:t>
            </a:r>
            <a:r>
              <a:rPr lang="en-US" altLang="en-US" sz="1800" b="0" dirty="0" smtClean="0"/>
              <a:t>(&amp;</a:t>
            </a:r>
            <a:r>
              <a:rPr lang="en-US" altLang="en-US" sz="1800" b="0" dirty="0" err="1" smtClean="0"/>
              <a:t>msg</a:t>
            </a:r>
            <a:r>
              <a:rPr lang="en-US" altLang="en-US" sz="1800" b="0" dirty="0" smtClean="0"/>
              <a:t>);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/>
              <a:t> </a:t>
            </a:r>
            <a:r>
              <a:rPr lang="en-US" altLang="en-US" sz="1800" b="0" dirty="0" smtClean="0"/>
              <a:t> </a:t>
            </a:r>
            <a:r>
              <a:rPr lang="en-US" altLang="en-US" sz="1800" b="0" dirty="0" err="1" smtClean="0"/>
              <a:t>verifyInfraredBeaconsOn</a:t>
            </a:r>
            <a:r>
              <a:rPr lang="en-US" altLang="en-US" sz="1800" b="0" dirty="0" smtClean="0"/>
              <a:t>();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/>
              <a:t>}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/>
              <a:t>TEST(</a:t>
            </a:r>
            <a:r>
              <a:rPr lang="en-US" altLang="en-US" sz="1800" b="0" dirty="0" err="1" smtClean="0"/>
              <a:t>ErsdInfraredBeaconsTests</a:t>
            </a:r>
            <a:r>
              <a:rPr lang="en-US" altLang="en-US" sz="1800" b="0" dirty="0" smtClean="0"/>
              <a:t>, </a:t>
            </a:r>
            <a:r>
              <a:rPr lang="en-US" altLang="en-US" sz="1800" b="0" dirty="0" err="1" smtClean="0"/>
              <a:t>DisableWhenSelfDestructing</a:t>
            </a:r>
            <a:r>
              <a:rPr lang="en-US" altLang="en-US" sz="1800" b="0" dirty="0" smtClean="0"/>
              <a:t>) {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/>
              <a:t>  </a:t>
            </a:r>
            <a:r>
              <a:rPr lang="en-US" altLang="en-US" sz="1800" b="0" dirty="0" err="1" smtClean="0"/>
              <a:t>setPlaneToSelfDestruct</a:t>
            </a:r>
            <a:r>
              <a:rPr lang="en-US" altLang="en-US" sz="1800" b="0" dirty="0" smtClean="0"/>
              <a:t>();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/>
              <a:t> </a:t>
            </a:r>
            <a:r>
              <a:rPr lang="en-US" altLang="en-US" sz="1800" b="0" dirty="0" smtClean="0"/>
              <a:t> </a:t>
            </a:r>
            <a:r>
              <a:rPr lang="en-US" altLang="en-US" sz="1800" b="0" dirty="0" err="1" smtClean="0"/>
              <a:t>statPackACMFB</a:t>
            </a:r>
            <a:r>
              <a:rPr lang="en-US" altLang="en-US" sz="1800" b="0" dirty="0" smtClean="0"/>
              <a:t>(&amp;</a:t>
            </a:r>
            <a:r>
              <a:rPr lang="en-US" altLang="en-US" sz="1800" b="0" dirty="0" err="1" smtClean="0"/>
              <a:t>msg</a:t>
            </a:r>
            <a:r>
              <a:rPr lang="en-US" altLang="en-US" sz="1800" b="0" dirty="0" smtClean="0"/>
              <a:t>);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/>
              <a:t>  </a:t>
            </a:r>
            <a:r>
              <a:rPr lang="en-US" altLang="en-US" sz="1800" b="0" dirty="0" err="1" smtClean="0"/>
              <a:t>verifyInfraredBeaconsOff</a:t>
            </a:r>
            <a:r>
              <a:rPr lang="en-US" altLang="en-US" sz="1800" b="0" dirty="0" smtClean="0"/>
              <a:t>();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r>
              <a:rPr lang="en-US" altLang="en-US" sz="1800" b="0" dirty="0" smtClean="0"/>
              <a:t>}</a:t>
            </a:r>
          </a:p>
          <a:p>
            <a:pPr marL="0" indent="0" fontAlgn="base">
              <a:spcAft>
                <a:spcPct val="0"/>
              </a:spcAft>
              <a:buNone/>
              <a:defRPr/>
            </a:pPr>
            <a:endParaRPr lang="en-US" altLang="en-US" sz="1800" b="0" dirty="0" smtClean="0"/>
          </a:p>
          <a:p>
            <a:pPr marL="0" indent="0" fontAlgn="base">
              <a:spcAft>
                <a:spcPct val="0"/>
              </a:spcAft>
              <a:buNone/>
              <a:defRPr/>
            </a:pPr>
            <a:endParaRPr lang="en-US" altLang="en-US" sz="1800" b="0" dirty="0"/>
          </a:p>
        </p:txBody>
      </p:sp>
    </p:spTree>
    <p:extLst>
      <p:ext uri="{BB962C8B-B14F-4D97-AF65-F5344CB8AC3E}">
        <p14:creationId xmlns:p14="http://schemas.microsoft.com/office/powerpoint/2010/main" val="3074102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ontent Placeholder 3"/>
          <p:cNvSpPr>
            <a:spLocks noGrp="1"/>
          </p:cNvSpPr>
          <p:nvPr>
            <p:ph idx="1"/>
          </p:nvPr>
        </p:nvSpPr>
        <p:spPr>
          <a:xfrm>
            <a:off x="1577341" y="3114040"/>
            <a:ext cx="5836920" cy="904875"/>
          </a:xfrm>
        </p:spPr>
        <p:txBody>
          <a:bodyPr/>
          <a:lstStyle/>
          <a:p>
            <a:pPr marL="0" indent="0" algn="ctr" fontAlgn="base"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dirty="0" smtClean="0"/>
              <a:t>Code as Living Documentation</a:t>
            </a:r>
          </a:p>
        </p:txBody>
      </p:sp>
    </p:spTree>
    <p:extLst>
      <p:ext uri="{BB962C8B-B14F-4D97-AF65-F5344CB8AC3E}">
        <p14:creationId xmlns:p14="http://schemas.microsoft.com/office/powerpoint/2010/main" val="2832980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we learned about IR Beacons from our tests: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 smtClean="0"/>
              <a:t>Code as Living Documentation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634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What we learned about IR Beacons from our tests: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Beacons are disabled by default. 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 smtClean="0"/>
              <a:t>Code as Living Documentation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233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What we learned about IR Beacons from our tests: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Beacons are disabled by default. </a:t>
            </a:r>
          </a:p>
          <a:p>
            <a:pPr lvl="1" indent="-342900"/>
            <a:r>
              <a:rPr lang="en-US" dirty="0"/>
              <a:t>Our plane does surveillance and we don’t want non-friendly actors to find it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 smtClean="0"/>
              <a:t>Code as Living Documentation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678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What we learned about IR Beacons from our tests: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Beacons are disabled by default. </a:t>
            </a:r>
          </a:p>
          <a:p>
            <a:pPr lvl="1" indent="-342900"/>
            <a:r>
              <a:rPr lang="en-US" dirty="0"/>
              <a:t>Our plane does surveillance and we don’t want non-friendly actors to find it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Beacons are enabled during Emergency Recovery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 smtClean="0"/>
              <a:t>Code as Living Documentation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096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What we learned about IR Beacons from our tests: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Beacons are disabled by default. </a:t>
            </a:r>
          </a:p>
          <a:p>
            <a:pPr lvl="1" indent="-342900"/>
            <a:r>
              <a:rPr lang="en-US" dirty="0"/>
              <a:t>Our plane does surveillance and we don’t want non-friendly actors to find it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Beacons are enabled during Emergency Recovery</a:t>
            </a:r>
          </a:p>
          <a:p>
            <a:pPr lvl="1" indent="-342900"/>
            <a:r>
              <a:rPr lang="en-US" dirty="0" smtClean="0"/>
              <a:t>We want to find our plane when we are landing in a safe, but unknown area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 smtClean="0"/>
              <a:t>Code as Living Documentation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91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What we learned about IR Beacons from our tests: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Beacons are disabled by default. </a:t>
            </a:r>
          </a:p>
          <a:p>
            <a:pPr lvl="1" indent="-342900"/>
            <a:r>
              <a:rPr lang="en-US" dirty="0"/>
              <a:t>O</a:t>
            </a:r>
            <a:r>
              <a:rPr lang="en-US" dirty="0" smtClean="0"/>
              <a:t>ur plane does surveillance and we don’t want non-friendly actors to find it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Beacons are enabled during Emergency Recovery</a:t>
            </a:r>
          </a:p>
          <a:p>
            <a:pPr lvl="1" indent="-342900"/>
            <a:r>
              <a:rPr lang="en-US" dirty="0" smtClean="0"/>
              <a:t>We want to find our plane when we are landing in a safe, but unknown area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Beacons are disabled during Self Destruct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 smtClean="0"/>
              <a:t>Code as Living Documentation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486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What we learned about IR Beacons from our tests: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Beacons are disabled by default. </a:t>
            </a:r>
          </a:p>
          <a:p>
            <a:pPr lvl="1" indent="-342900"/>
            <a:r>
              <a:rPr lang="en-US" dirty="0"/>
              <a:t>O</a:t>
            </a:r>
            <a:r>
              <a:rPr lang="en-US" dirty="0" smtClean="0"/>
              <a:t>ur plane does surveillance and we don’t want non-friendly actors to find it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Beacons are enabled during Emergency Recovery</a:t>
            </a:r>
          </a:p>
          <a:p>
            <a:pPr lvl="1" indent="-342900"/>
            <a:r>
              <a:rPr lang="en-US" dirty="0" smtClean="0"/>
              <a:t>We want to find our plane when we are landing in a safe, but unknown area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Beacons are disabled during Self Destruct</a:t>
            </a:r>
          </a:p>
          <a:p>
            <a:pPr lvl="1" indent="-342900"/>
            <a:r>
              <a:rPr lang="en-US" dirty="0" smtClean="0"/>
              <a:t>Plane is in unfriendly territory and we are unable to rescue it. Do not want plane to get in enemy hands</a:t>
            </a:r>
          </a:p>
          <a:p>
            <a:pPr marL="857250" lvl="1" indent="-457200">
              <a:buFont typeface="+mj-lt"/>
              <a:buAutoNum type="arabicPeriod"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 smtClean="0"/>
              <a:t>Code as Living Documentation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602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What we learned about IR Beacons from our tests: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Beacons are disabled by default. </a:t>
            </a:r>
          </a:p>
          <a:p>
            <a:pPr lvl="1" indent="-342900"/>
            <a:r>
              <a:rPr lang="en-US" dirty="0"/>
              <a:t>O</a:t>
            </a:r>
            <a:r>
              <a:rPr lang="en-US" dirty="0" smtClean="0"/>
              <a:t>ur plane does surveillance and we don’t want non-friendly actors to find it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Beacons are enabled during Emergency Recovery</a:t>
            </a:r>
          </a:p>
          <a:p>
            <a:pPr lvl="1" indent="-342900"/>
            <a:r>
              <a:rPr lang="en-US" dirty="0" smtClean="0"/>
              <a:t>We want to find our plane when we are landing in a safe, but unknown area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Beacons are disabled during Self Destruct</a:t>
            </a:r>
          </a:p>
          <a:p>
            <a:pPr lvl="1" indent="-342900"/>
            <a:r>
              <a:rPr lang="en-US" dirty="0" smtClean="0"/>
              <a:t>Plane is in unfriendly territory and we are unable to rescue it. Do not want plane to get in enemy hands</a:t>
            </a:r>
          </a:p>
          <a:p>
            <a:pPr marL="0" indent="0">
              <a:buNone/>
            </a:pPr>
            <a:r>
              <a:rPr lang="en-US" dirty="0"/>
              <a:t>Tests are Verifiable by </a:t>
            </a:r>
            <a:r>
              <a:rPr lang="en-US" dirty="0" smtClean="0"/>
              <a:t>Inspection</a:t>
            </a:r>
            <a:endParaRPr lang="en-US" dirty="0"/>
          </a:p>
          <a:p>
            <a:endParaRPr lang="en-US" dirty="0" smtClean="0"/>
          </a:p>
          <a:p>
            <a:pPr marL="857250" lvl="1" indent="-457200">
              <a:buFont typeface="+mj-lt"/>
              <a:buAutoNum type="arabicPeriod"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 smtClean="0"/>
              <a:t>Code as Living Documentation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000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ontent Placeholder 3"/>
          <p:cNvSpPr>
            <a:spLocks noGrp="1"/>
          </p:cNvSpPr>
          <p:nvPr>
            <p:ph idx="1"/>
          </p:nvPr>
        </p:nvSpPr>
        <p:spPr>
          <a:xfrm>
            <a:off x="1805623" y="3114040"/>
            <a:ext cx="5509577" cy="904875"/>
          </a:xfrm>
        </p:spPr>
        <p:txBody>
          <a:bodyPr/>
          <a:lstStyle/>
          <a:p>
            <a:pPr marL="0" indent="0" algn="ctr" fontAlgn="base"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dirty="0" smtClean="0"/>
              <a:t>Lessons Learned From Project</a:t>
            </a:r>
          </a:p>
        </p:txBody>
      </p:sp>
    </p:spTree>
    <p:extLst>
      <p:ext uri="{BB962C8B-B14F-4D97-AF65-F5344CB8AC3E}">
        <p14:creationId xmlns:p14="http://schemas.microsoft.com/office/powerpoint/2010/main" val="795729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Why is another layer of testing valuable?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457200" y="1403350"/>
            <a:ext cx="8229600" cy="4462463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1800" dirty="0" smtClean="0"/>
              <a:t>Evaluate causes </a:t>
            </a:r>
            <a:r>
              <a:rPr lang="en-US" altLang="en-US" sz="1800" dirty="0"/>
              <a:t>of schedule slips and </a:t>
            </a:r>
            <a:r>
              <a:rPr lang="en-US" altLang="en-US" sz="1800" dirty="0" smtClean="0"/>
              <a:t>increased cost</a:t>
            </a:r>
            <a:endParaRPr lang="en-US" sz="1800" b="0" dirty="0" smtClean="0"/>
          </a:p>
          <a:p>
            <a:pPr marL="0" indent="0">
              <a:buNone/>
            </a:pPr>
            <a:r>
              <a:rPr lang="en-US" sz="1800" b="0" dirty="0" smtClean="0"/>
              <a:t>1</a:t>
            </a:r>
            <a:r>
              <a:rPr lang="en-US" sz="1800" b="0" dirty="0"/>
              <a:t>.) </a:t>
            </a:r>
            <a:r>
              <a:rPr lang="en-US" sz="1800" dirty="0" smtClean="0"/>
              <a:t>Bugs/logical errors</a:t>
            </a:r>
          </a:p>
          <a:p>
            <a:pPr lvl="1"/>
            <a:r>
              <a:rPr lang="en-US" sz="1800" b="0" dirty="0" smtClean="0"/>
              <a:t>Bugs are cheaper to fix if caught immediately</a:t>
            </a:r>
          </a:p>
          <a:p>
            <a:pPr lvl="1"/>
            <a:r>
              <a:rPr lang="en-US" sz="1800" dirty="0" smtClean="0"/>
              <a:t>Bugs are more expensive if they are caught later (TOIs are costly)</a:t>
            </a:r>
            <a:r>
              <a:rPr lang="en-US" sz="1800" b="0" dirty="0" smtClean="0"/>
              <a:t> </a:t>
            </a:r>
          </a:p>
          <a:p>
            <a:pPr lvl="1"/>
            <a:endParaRPr lang="en-US" sz="500" b="0" dirty="0" smtClean="0"/>
          </a:p>
          <a:p>
            <a:pPr marL="0" indent="0">
              <a:buNone/>
            </a:pPr>
            <a:r>
              <a:rPr lang="en-US" sz="1800" b="0" dirty="0" smtClean="0"/>
              <a:t>2.) </a:t>
            </a:r>
            <a:r>
              <a:rPr lang="en-US" sz="1800" dirty="0" smtClean="0"/>
              <a:t>System testing </a:t>
            </a:r>
            <a:r>
              <a:rPr lang="en-US" sz="1800" b="0" dirty="0" smtClean="0"/>
              <a:t>is different than </a:t>
            </a:r>
            <a:r>
              <a:rPr lang="en-US" sz="1800" dirty="0" smtClean="0"/>
              <a:t>Unit Testing</a:t>
            </a:r>
          </a:p>
          <a:p>
            <a:pPr lvl="1"/>
            <a:r>
              <a:rPr lang="en-US" sz="1800" dirty="0" smtClean="0"/>
              <a:t>Main </a:t>
            </a:r>
            <a:r>
              <a:rPr lang="en-US" sz="1800" dirty="0" smtClean="0"/>
              <a:t>disadvantage of system testing </a:t>
            </a:r>
            <a:r>
              <a:rPr lang="en-US" sz="1800" dirty="0"/>
              <a:t>is that we do not know if a problem is caused by your software or some unknown hardware problem or some other software </a:t>
            </a:r>
            <a:r>
              <a:rPr lang="en-US" sz="1800" dirty="0" smtClean="0"/>
              <a:t>bug</a:t>
            </a:r>
            <a:endParaRPr lang="en-US" sz="1800" b="0" dirty="0" smtClean="0"/>
          </a:p>
          <a:p>
            <a:pPr marL="0" indent="0">
              <a:buNone/>
            </a:pPr>
            <a:endParaRPr lang="en-US" sz="500" dirty="0" smtClean="0"/>
          </a:p>
          <a:p>
            <a:pPr marL="0" indent="0">
              <a:buNone/>
            </a:pPr>
            <a:r>
              <a:rPr lang="en-US" sz="1800" b="0" dirty="0" smtClean="0"/>
              <a:t>3</a:t>
            </a:r>
            <a:r>
              <a:rPr lang="en-US" sz="1800" b="0" dirty="0"/>
              <a:t>.) </a:t>
            </a:r>
            <a:r>
              <a:rPr lang="en-US" sz="1800" dirty="0" smtClean="0"/>
              <a:t>Merge </a:t>
            </a:r>
            <a:r>
              <a:rPr lang="en-US" sz="1800" dirty="0"/>
              <a:t>conflicts </a:t>
            </a:r>
            <a:r>
              <a:rPr lang="en-US" sz="1800" b="0" dirty="0" smtClean="0"/>
              <a:t>can</a:t>
            </a:r>
            <a:r>
              <a:rPr lang="en-US" sz="1800" dirty="0" smtClean="0"/>
              <a:t> </a:t>
            </a:r>
            <a:r>
              <a:rPr lang="en-US" sz="1800" b="0" dirty="0" smtClean="0"/>
              <a:t>break </a:t>
            </a:r>
            <a:r>
              <a:rPr lang="en-US" sz="1800" b="0" dirty="0"/>
              <a:t>the </a:t>
            </a:r>
            <a:r>
              <a:rPr lang="en-US" sz="1800" b="0" dirty="0" smtClean="0"/>
              <a:t>build </a:t>
            </a:r>
            <a:r>
              <a:rPr lang="en-US" sz="1800" b="0" dirty="0"/>
              <a:t>at the end of </a:t>
            </a:r>
            <a:r>
              <a:rPr lang="en-US" sz="1800" b="0" dirty="0" smtClean="0"/>
              <a:t>a release, </a:t>
            </a:r>
            <a:r>
              <a:rPr lang="en-US" sz="1800" b="0" dirty="0"/>
              <a:t>meaning software is not </a:t>
            </a:r>
            <a:r>
              <a:rPr lang="en-US" sz="1800" b="0" dirty="0" smtClean="0"/>
              <a:t>releasable at a critical moment</a:t>
            </a:r>
            <a:endParaRPr lang="en-US" sz="1800" b="0" dirty="0"/>
          </a:p>
        </p:txBody>
      </p:sp>
      <p:sp>
        <p:nvSpPr>
          <p:cNvPr id="2" name="Rectangle 1"/>
          <p:cNvSpPr/>
          <p:nvPr/>
        </p:nvSpPr>
        <p:spPr>
          <a:xfrm>
            <a:off x="320040" y="4805998"/>
            <a:ext cx="797052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eaLnBrk="1" hangingPunct="1"/>
            <a:r>
              <a:rPr lang="en-US" altLang="en-US" b="1" dirty="0" smtClean="0"/>
              <a:t>With </a:t>
            </a:r>
            <a:r>
              <a:rPr lang="en-US" altLang="en-US" b="1" dirty="0"/>
              <a:t>Jenkins</a:t>
            </a:r>
            <a:r>
              <a:rPr lang="en-US" altLang="en-US" b="1" dirty="0" smtClean="0"/>
              <a:t>:</a:t>
            </a:r>
            <a:endParaRPr lang="en-US" altLang="en-US" b="1" dirty="0"/>
          </a:p>
          <a:p>
            <a:pPr marL="1200150" lvl="2" indent="-285750"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Code is tested after every </a:t>
            </a:r>
            <a:r>
              <a:rPr lang="en-US" altLang="en-US" dirty="0" smtClean="0"/>
              <a:t>commit. Build is always correct</a:t>
            </a:r>
            <a:endParaRPr lang="en-US" altLang="en-US" dirty="0"/>
          </a:p>
          <a:p>
            <a:pPr marL="1200150" lvl="2" indent="-285750"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Build process is </a:t>
            </a:r>
            <a:r>
              <a:rPr lang="en-US" altLang="en-US" dirty="0" smtClean="0"/>
              <a:t>automated. Artifacts are archived</a:t>
            </a:r>
            <a:endParaRPr lang="en-US" altLang="en-US" dirty="0"/>
          </a:p>
          <a:p>
            <a:pPr marL="1200150" lvl="2" indent="-285750"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Bugs are found </a:t>
            </a:r>
            <a:r>
              <a:rPr lang="en-US" altLang="en-US" dirty="0" smtClean="0"/>
              <a:t>immediately and thus easier </a:t>
            </a:r>
            <a:r>
              <a:rPr lang="en-US" altLang="en-US" dirty="0"/>
              <a:t>to </a:t>
            </a:r>
            <a:r>
              <a:rPr lang="en-US" altLang="en-US" dirty="0" smtClean="0"/>
              <a:t>fix</a:t>
            </a:r>
            <a:endParaRPr lang="en-US" altLang="en-US" dirty="0"/>
          </a:p>
          <a:p>
            <a:pPr marL="1200150" lvl="2" indent="-285750"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Merge conflicts and schedule slips are reduced</a:t>
            </a:r>
          </a:p>
        </p:txBody>
      </p:sp>
    </p:spTree>
    <p:extLst>
      <p:ext uri="{BB962C8B-B14F-4D97-AF65-F5344CB8AC3E}">
        <p14:creationId xmlns:p14="http://schemas.microsoft.com/office/powerpoint/2010/main" val="4216052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Unit Testing makes Software Development Cheaper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457200" y="1403350"/>
            <a:ext cx="8229600" cy="4462463"/>
          </a:xfrm>
        </p:spPr>
        <p:txBody>
          <a:bodyPr/>
          <a:lstStyle/>
          <a:p>
            <a:pPr marL="0" indent="0">
              <a:buNone/>
            </a:pPr>
            <a:r>
              <a:rPr lang="en-US" b="0" dirty="0"/>
              <a:t>1.) </a:t>
            </a:r>
            <a:r>
              <a:rPr lang="en-US" dirty="0" smtClean="0"/>
              <a:t>Develop software without hardware</a:t>
            </a:r>
          </a:p>
          <a:p>
            <a:pPr lvl="1"/>
            <a:r>
              <a:rPr lang="en-US" dirty="0" smtClean="0"/>
              <a:t>Verify software logic independent of hardware</a:t>
            </a:r>
          </a:p>
          <a:p>
            <a:pPr lvl="1"/>
            <a:r>
              <a:rPr lang="en-US" dirty="0" smtClean="0"/>
              <a:t>Allows for quicker development</a:t>
            </a:r>
          </a:p>
          <a:p>
            <a:pPr lvl="2"/>
            <a:r>
              <a:rPr lang="en-US" dirty="0" smtClean="0"/>
              <a:t>Software and electrical engineers can work in parallel, reducing product schedule substantially</a:t>
            </a:r>
          </a:p>
          <a:p>
            <a:endParaRPr lang="en-US" sz="500" b="0" dirty="0"/>
          </a:p>
          <a:p>
            <a:pPr marL="0" indent="0">
              <a:buNone/>
            </a:pPr>
            <a:r>
              <a:rPr lang="en-US" b="0" dirty="0" smtClean="0"/>
              <a:t>2.) </a:t>
            </a:r>
            <a:r>
              <a:rPr lang="en-US" dirty="0" smtClean="0"/>
              <a:t>Reduce debug time</a:t>
            </a:r>
            <a:endParaRPr lang="en-US" dirty="0"/>
          </a:p>
          <a:p>
            <a:pPr lvl="1"/>
            <a:r>
              <a:rPr lang="en-US" dirty="0" smtClean="0"/>
              <a:t>Find more bugs earlier </a:t>
            </a:r>
          </a:p>
          <a:p>
            <a:pPr marL="0" indent="0">
              <a:buNone/>
            </a:pPr>
            <a:r>
              <a:rPr lang="en-US" b="0" dirty="0" smtClean="0"/>
              <a:t>3.) </a:t>
            </a:r>
            <a:r>
              <a:rPr lang="en-US" dirty="0" smtClean="0"/>
              <a:t>Isolate hardware/software interaction issues</a:t>
            </a:r>
            <a:endParaRPr lang="en-US" dirty="0"/>
          </a:p>
          <a:p>
            <a:pPr lvl="1"/>
            <a:r>
              <a:rPr lang="en-US" dirty="0" smtClean="0"/>
              <a:t>Decouple hardware and software modules</a:t>
            </a:r>
            <a:endParaRPr lang="en-US" sz="1800" dirty="0"/>
          </a:p>
          <a:p>
            <a:pPr marL="914400" lvl="2" indent="0">
              <a:buNone/>
            </a:pPr>
            <a:endParaRPr lang="en-US" sz="1800" dirty="0"/>
          </a:p>
          <a:p>
            <a:pPr marL="914400" lvl="2" indent="0">
              <a:buNone/>
            </a:pPr>
            <a:endParaRPr lang="en-US" sz="1800" dirty="0" smtClean="0"/>
          </a:p>
          <a:p>
            <a:pPr marL="914400" lvl="2" indent="0">
              <a:buNone/>
            </a:pPr>
            <a:endParaRPr lang="en-US" sz="1800" dirty="0"/>
          </a:p>
          <a:p>
            <a:pPr lvl="1"/>
            <a:endParaRPr lang="en-US" b="0" dirty="0" smtClean="0"/>
          </a:p>
          <a:p>
            <a:pPr lvl="1"/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001174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Reflection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515758" y="2990094"/>
            <a:ext cx="8112483" cy="3011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2" anchor="t" anchorCtr="0" compatLnSpc="1">
            <a:prstTxWarp prst="textNoShape">
              <a:avLst/>
            </a:prstTxWarp>
          </a:bodyPr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Char char="•"/>
              <a:tabLst/>
              <a:defRPr sz="2400" b="1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–"/>
              <a:defRPr sz="22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12573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r>
              <a:rPr lang="en-US" b="1" dirty="0" smtClean="0"/>
              <a:t>Before: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n-US" sz="2000" dirty="0" smtClean="0"/>
              <a:t>Knew Python &amp; Java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n-US" sz="2000" dirty="0" smtClean="0"/>
              <a:t>Worked primarily on frontend &amp; product design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endParaRPr lang="en-US" sz="2000" dirty="0"/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endParaRPr lang="en-US" sz="2000" dirty="0" smtClean="0"/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endParaRPr lang="en-US" sz="2000" dirty="0"/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endParaRPr lang="en-US" sz="2000" dirty="0" smtClean="0"/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endParaRPr lang="en-US" sz="2000" dirty="0"/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endParaRPr lang="en-US" sz="2000" dirty="0" smtClean="0"/>
          </a:p>
          <a:p>
            <a:pPr marL="457200" lvl="1" indent="0">
              <a:buNone/>
            </a:pPr>
            <a:r>
              <a:rPr lang="en-US" sz="2000" b="1" dirty="0"/>
              <a:t>After:</a:t>
            </a:r>
          </a:p>
          <a:p>
            <a:pPr marL="457200" lvl="1" indent="0">
              <a:buNone/>
            </a:pPr>
            <a:r>
              <a:rPr lang="en-US" sz="2000" b="1" dirty="0" smtClean="0"/>
              <a:t>After:</a:t>
            </a:r>
            <a:endParaRPr lang="en-US" sz="2000" b="1" dirty="0"/>
          </a:p>
          <a:p>
            <a:pPr marL="914400" lvl="1" indent="-457200">
              <a:buAutoNum type="arabicPeriod"/>
            </a:pPr>
            <a:r>
              <a:rPr lang="en-US" sz="2000" dirty="0" smtClean="0"/>
              <a:t>Learned </a:t>
            </a:r>
            <a:r>
              <a:rPr lang="en-US" sz="2000" dirty="0"/>
              <a:t>C/C++</a:t>
            </a:r>
          </a:p>
          <a:p>
            <a:pPr marL="914400" lvl="1" indent="-457200">
              <a:buAutoNum type="arabicPeriod"/>
            </a:pPr>
            <a:r>
              <a:rPr lang="en-US" sz="2000" dirty="0"/>
              <a:t>Worked on </a:t>
            </a:r>
            <a:r>
              <a:rPr lang="en-US" sz="2000" dirty="0" smtClean="0"/>
              <a:t>backend and embedded systems</a:t>
            </a:r>
            <a:endParaRPr lang="en-US" sz="2000" dirty="0"/>
          </a:p>
          <a:p>
            <a:pPr marL="914400" lvl="1" indent="-457200">
              <a:buAutoNum type="arabicPeriod"/>
            </a:pPr>
            <a:r>
              <a:rPr lang="en-US" sz="2000" dirty="0"/>
              <a:t>Learned LINUX &amp; Command Line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n-US" sz="2000" dirty="0"/>
              <a:t>Learned Jenkins and unit testing concepts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endParaRPr lang="en-US" sz="2000" dirty="0"/>
          </a:p>
          <a:p>
            <a:pPr marL="914400" lvl="1" indent="-457200">
              <a:buAutoNum type="arabicPeriod"/>
            </a:pPr>
            <a:endParaRPr lang="en-US" sz="2000" dirty="0"/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endParaRPr lang="en-US" sz="2000" dirty="0" smtClean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693420" y="1428570"/>
            <a:ext cx="7764780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/>
              <a:t>Created </a:t>
            </a:r>
            <a:r>
              <a:rPr lang="en-US" sz="2400" b="1" dirty="0"/>
              <a:t>120+ tests (so </a:t>
            </a:r>
            <a:r>
              <a:rPr lang="en-US" sz="2400" b="1" dirty="0" smtClean="0"/>
              <a:t>far)</a:t>
            </a:r>
          </a:p>
          <a:p>
            <a:pPr algn="ctr"/>
            <a:endParaRPr lang="en-US" sz="1000" b="1" dirty="0" smtClean="0"/>
          </a:p>
          <a:p>
            <a:pPr algn="ctr"/>
            <a:r>
              <a:rPr lang="en-US" sz="2000" dirty="0" smtClean="0"/>
              <a:t>Made </a:t>
            </a:r>
            <a:r>
              <a:rPr lang="en-US" sz="2000" dirty="0"/>
              <a:t>unit tests for </a:t>
            </a:r>
            <a:r>
              <a:rPr lang="en-US" sz="2000" dirty="0" smtClean="0"/>
              <a:t>Infrared Beacon, </a:t>
            </a:r>
            <a:r>
              <a:rPr lang="en-US" sz="2000" dirty="0"/>
              <a:t>Nose </a:t>
            </a:r>
            <a:endParaRPr lang="en-US" sz="2000" dirty="0" smtClean="0"/>
          </a:p>
          <a:p>
            <a:pPr algn="ctr"/>
            <a:r>
              <a:rPr lang="en-US" sz="2000" dirty="0" smtClean="0"/>
              <a:t>Camera, and </a:t>
            </a:r>
            <a:r>
              <a:rPr lang="en-US" sz="2000" dirty="0"/>
              <a:t>Daylight </a:t>
            </a:r>
            <a:r>
              <a:rPr lang="en-US" sz="2000" dirty="0" smtClean="0"/>
              <a:t>Camera modules.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77906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ontent Placeholder 3"/>
          <p:cNvSpPr>
            <a:spLocks noGrp="1"/>
          </p:cNvSpPr>
          <p:nvPr>
            <p:ph idx="1"/>
          </p:nvPr>
        </p:nvSpPr>
        <p:spPr>
          <a:xfrm>
            <a:off x="449263" y="2874643"/>
            <a:ext cx="8229600" cy="904875"/>
          </a:xfrm>
        </p:spPr>
        <p:txBody>
          <a:bodyPr/>
          <a:lstStyle/>
          <a:p>
            <a:pPr marL="0" indent="0" algn="ctr" fontAlgn="base"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dirty="0" smtClean="0"/>
              <a:t>Thank you for listening!</a:t>
            </a:r>
          </a:p>
          <a:p>
            <a:pPr marL="0" indent="0" algn="ctr" fontAlgn="base"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dirty="0" smtClean="0"/>
              <a:t>Questions?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 bwMode="auto">
          <a:xfrm>
            <a:off x="944880" y="4620895"/>
            <a:ext cx="6835140" cy="1356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Char char="•"/>
              <a:tabLst/>
              <a:defRPr sz="2400" b="1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–"/>
              <a:defRPr sz="22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12573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ctr">
              <a:buFont typeface="Arial" panose="020B0604020202020204" pitchFamily="34" charset="0"/>
              <a:buNone/>
            </a:pPr>
            <a:r>
              <a:rPr lang="en-US" sz="1800" b="1" dirty="0" smtClean="0">
                <a:solidFill>
                  <a:schemeClr val="bg1"/>
                </a:solidFill>
              </a:rPr>
              <a:t>Thank You to: </a:t>
            </a:r>
          </a:p>
          <a:p>
            <a:pPr marL="457200" lvl="1" indent="0" algn="ctr">
              <a:buFont typeface="Arial" panose="020B0604020202020204" pitchFamily="34" charset="0"/>
              <a:buNone/>
            </a:pPr>
            <a:r>
              <a:rPr lang="en-US" sz="1800" dirty="0" smtClean="0">
                <a:solidFill>
                  <a:schemeClr val="bg1"/>
                </a:solidFill>
              </a:rPr>
              <a:t>Anthony Graca, JJ Krakowski, </a:t>
            </a:r>
          </a:p>
          <a:p>
            <a:pPr marL="457200" lvl="1" indent="0" algn="ctr">
              <a:buFont typeface="Arial" panose="020B0604020202020204" pitchFamily="34" charset="0"/>
              <a:buNone/>
            </a:pPr>
            <a:r>
              <a:rPr lang="en-US" sz="1800" dirty="0" smtClean="0">
                <a:solidFill>
                  <a:schemeClr val="bg1"/>
                </a:solidFill>
              </a:rPr>
              <a:t>Jon Wahlmann, Matt </a:t>
            </a:r>
            <a:r>
              <a:rPr lang="en-US" sz="1800" dirty="0" err="1" smtClean="0">
                <a:solidFill>
                  <a:schemeClr val="bg1"/>
                </a:solidFill>
              </a:rPr>
              <a:t>Fallentine</a:t>
            </a:r>
            <a:r>
              <a:rPr lang="en-US" sz="1800" dirty="0" smtClean="0">
                <a:solidFill>
                  <a:schemeClr val="bg1"/>
                </a:solidFill>
              </a:rPr>
              <a:t> and Edward </a:t>
            </a:r>
            <a:r>
              <a:rPr lang="en-US" sz="1800" dirty="0" err="1" smtClean="0">
                <a:solidFill>
                  <a:schemeClr val="bg1"/>
                </a:solidFill>
              </a:rPr>
              <a:t>Xie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3359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Potential Questions – Table Of Contents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457200" y="1403350"/>
            <a:ext cx="8229600" cy="4462463"/>
          </a:xfrm>
        </p:spPr>
        <p:txBody>
          <a:bodyPr/>
          <a:lstStyle/>
          <a:p>
            <a:r>
              <a:rPr lang="en-US" sz="1600" dirty="0" smtClean="0"/>
              <a:t>What/Why this tool?</a:t>
            </a:r>
          </a:p>
          <a:p>
            <a:r>
              <a:rPr lang="en-US" sz="1600" dirty="0" smtClean="0"/>
              <a:t>Time and Cost</a:t>
            </a:r>
          </a:p>
          <a:p>
            <a:r>
              <a:rPr lang="en-US" sz="1600" dirty="0" smtClean="0"/>
              <a:t>BAS vs Jenkins</a:t>
            </a:r>
          </a:p>
          <a:p>
            <a:r>
              <a:rPr lang="en-US" sz="1600" dirty="0" smtClean="0"/>
              <a:t>How will we train people in unit testing?</a:t>
            </a:r>
          </a:p>
          <a:p>
            <a:r>
              <a:rPr lang="en-US" sz="1600" dirty="0" smtClean="0"/>
              <a:t>Portability (Between VSMPKG and DGCS) (Between Dev Machine and Target)</a:t>
            </a:r>
          </a:p>
          <a:p>
            <a:r>
              <a:rPr lang="en-US" sz="1600" dirty="0" smtClean="0"/>
              <a:t>Process Change? </a:t>
            </a:r>
            <a:r>
              <a:rPr lang="en-US" sz="1600" dirty="0"/>
              <a:t>What code has been tested with this</a:t>
            </a:r>
            <a:r>
              <a:rPr lang="en-US" sz="1600" dirty="0" smtClean="0"/>
              <a:t>?</a:t>
            </a:r>
          </a:p>
          <a:p>
            <a:r>
              <a:rPr lang="en-US" sz="1600" dirty="0" smtClean="0"/>
              <a:t>Requirements</a:t>
            </a:r>
            <a:r>
              <a:rPr lang="en-US" sz="1600" dirty="0"/>
              <a:t> </a:t>
            </a:r>
            <a:r>
              <a:rPr lang="en-US" sz="1600" dirty="0" smtClean="0"/>
              <a:t>Verification</a:t>
            </a:r>
          </a:p>
          <a:p>
            <a:r>
              <a:rPr lang="en-US" sz="1600" dirty="0" smtClean="0"/>
              <a:t>Squish?</a:t>
            </a:r>
            <a:endParaRPr lang="en-US" sz="1600" dirty="0" smtClean="0"/>
          </a:p>
          <a:p>
            <a:r>
              <a:rPr lang="en-US" sz="1600" dirty="0" smtClean="0"/>
              <a:t>Training?</a:t>
            </a:r>
          </a:p>
          <a:p>
            <a:r>
              <a:rPr lang="en-US" sz="1600" dirty="0" smtClean="0"/>
              <a:t>Untestable Code?</a:t>
            </a:r>
          </a:p>
          <a:p>
            <a:r>
              <a:rPr lang="en-US" sz="1600" dirty="0" err="1" smtClean="0"/>
              <a:t>Vectorcast</a:t>
            </a:r>
            <a:r>
              <a:rPr lang="en-US" sz="1600" dirty="0" smtClean="0"/>
              <a:t> vs </a:t>
            </a:r>
            <a:r>
              <a:rPr lang="en-US" sz="1600" dirty="0" err="1" smtClean="0"/>
              <a:t>CppUTest</a:t>
            </a:r>
            <a:endParaRPr lang="en-US" sz="1600" dirty="0" smtClean="0"/>
          </a:p>
          <a:p>
            <a:r>
              <a:rPr lang="en-US" sz="1600" dirty="0" smtClean="0"/>
              <a:t>We Already Do Unit Testing</a:t>
            </a:r>
          </a:p>
        </p:txBody>
      </p:sp>
    </p:spTree>
    <p:extLst>
      <p:ext uri="{BB962C8B-B14F-4D97-AF65-F5344CB8AC3E}">
        <p14:creationId xmlns:p14="http://schemas.microsoft.com/office/powerpoint/2010/main" val="3251226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is this tool?</a:t>
            </a:r>
          </a:p>
          <a:p>
            <a:pPr lvl="1"/>
            <a:r>
              <a:rPr lang="en-US" dirty="0" err="1" smtClean="0"/>
              <a:t>CppUTest</a:t>
            </a:r>
            <a:r>
              <a:rPr lang="en-US" dirty="0" smtClean="0"/>
              <a:t> is part of the </a:t>
            </a:r>
            <a:r>
              <a:rPr lang="en-US" dirty="0" err="1" smtClean="0"/>
              <a:t>xUnit</a:t>
            </a:r>
            <a:r>
              <a:rPr lang="en-US" dirty="0" smtClean="0"/>
              <a:t> family of testing frameworks (</a:t>
            </a:r>
            <a:r>
              <a:rPr lang="en-US" dirty="0" err="1" smtClean="0"/>
              <a:t>e.g</a:t>
            </a:r>
            <a:r>
              <a:rPr lang="en-US" dirty="0" smtClean="0"/>
              <a:t> JUnit, </a:t>
            </a:r>
            <a:r>
              <a:rPr lang="en-US" dirty="0" err="1" smtClean="0"/>
              <a:t>pytest</a:t>
            </a:r>
            <a:r>
              <a:rPr lang="en-US" dirty="0" smtClean="0"/>
              <a:t>, google test, </a:t>
            </a:r>
            <a:r>
              <a:rPr lang="en-US" dirty="0" err="1" smtClean="0"/>
              <a:t>etc</a:t>
            </a:r>
            <a:r>
              <a:rPr lang="en-US" dirty="0" smtClean="0"/>
              <a:t>).</a:t>
            </a:r>
          </a:p>
          <a:p>
            <a:pPr lvl="1"/>
            <a:r>
              <a:rPr lang="en-US" dirty="0" smtClean="0"/>
              <a:t>Can find online: </a:t>
            </a:r>
            <a:r>
              <a:rPr lang="en-US" b="1" dirty="0" smtClean="0"/>
              <a:t>cpputest.github.io</a:t>
            </a:r>
            <a:endParaRPr lang="en-US" dirty="0"/>
          </a:p>
          <a:p>
            <a:r>
              <a:rPr lang="en-US" dirty="0" smtClean="0"/>
              <a:t>Why pick this?</a:t>
            </a:r>
          </a:p>
          <a:p>
            <a:pPr lvl="1"/>
            <a:r>
              <a:rPr lang="en-US" dirty="0" err="1" smtClean="0"/>
              <a:t>CppUTest</a:t>
            </a:r>
            <a:r>
              <a:rPr lang="en-US" dirty="0" smtClean="0"/>
              <a:t> is written in C++ but can be used for C &amp; C++. </a:t>
            </a:r>
          </a:p>
          <a:p>
            <a:pPr lvl="1"/>
            <a:r>
              <a:rPr lang="en-US" dirty="0" smtClean="0"/>
              <a:t>It is specifically designed for embedded systems.</a:t>
            </a:r>
          </a:p>
          <a:p>
            <a:pPr lvl="1"/>
            <a:r>
              <a:rPr lang="en-US" dirty="0" err="1" smtClean="0"/>
              <a:t>CppUTest</a:t>
            </a:r>
            <a:r>
              <a:rPr lang="en-US" dirty="0" smtClean="0"/>
              <a:t> is free as in beer. </a:t>
            </a:r>
          </a:p>
          <a:p>
            <a:pPr lvl="1"/>
            <a:r>
              <a:rPr lang="en-US" dirty="0" smtClean="0"/>
              <a:t>Licensed under BSD 3-clause. Allows for closed-source and proprietary use.</a:t>
            </a:r>
          </a:p>
          <a:p>
            <a:pPr lvl="1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 smtClean="0"/>
              <a:t>What is this Tool? / Why pick this?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614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8397240" cy="4525963"/>
          </a:xfrm>
        </p:spPr>
        <p:txBody>
          <a:bodyPr/>
          <a:lstStyle/>
          <a:p>
            <a:r>
              <a:rPr lang="en-US" dirty="0" smtClean="0"/>
              <a:t>Q: Do we need to have entire code base under test?</a:t>
            </a:r>
          </a:p>
          <a:p>
            <a:pPr lvl="1"/>
            <a:r>
              <a:rPr lang="en-US" dirty="0" smtClean="0"/>
              <a:t>A: No. Code only breaks when people make changes to it. We know our system works because we have &gt; 14 million flight hours on it. </a:t>
            </a:r>
          </a:p>
          <a:p>
            <a:pPr lvl="2"/>
            <a:r>
              <a:rPr lang="en-US" dirty="0" smtClean="0"/>
              <a:t>The most sustainable way that for every change a developer makes, that same developer should write a test for their change.</a:t>
            </a:r>
          </a:p>
          <a:p>
            <a:r>
              <a:rPr lang="en-US" dirty="0" smtClean="0"/>
              <a:t>Will having so many tests take forever to run?</a:t>
            </a:r>
          </a:p>
          <a:p>
            <a:pPr lvl="1"/>
            <a:r>
              <a:rPr lang="en-US" dirty="0" smtClean="0"/>
              <a:t>A: No, having 120+ tests takes less than 1 </a:t>
            </a:r>
            <a:r>
              <a:rPr lang="en-US" dirty="0" err="1" smtClean="0"/>
              <a:t>ms</a:t>
            </a:r>
            <a:r>
              <a:rPr lang="en-US" dirty="0" smtClean="0"/>
              <a:t> to run.</a:t>
            </a:r>
          </a:p>
          <a:p>
            <a:pPr lvl="1"/>
            <a:r>
              <a:rPr lang="en-US" dirty="0" smtClean="0"/>
              <a:t>A: If we have millions of tests that would make the build take more than 10 minutes, we can run all of them nightly when </a:t>
            </a:r>
            <a:r>
              <a:rPr lang="en-US" dirty="0" err="1" smtClean="0"/>
              <a:t>devs</a:t>
            </a:r>
            <a:r>
              <a:rPr lang="en-US" dirty="0" smtClean="0"/>
              <a:t> are sleeping.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 smtClean="0"/>
              <a:t>Time and Cost Investment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077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Benefits of Using Jenkins for Unit Tests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457200" y="1403350"/>
            <a:ext cx="8229600" cy="4462463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en-US" altLang="en-US" dirty="0" smtClean="0"/>
              <a:t>A build automation system, by definition, verifies the correctness of builds. BAS does not do this</a:t>
            </a:r>
          </a:p>
          <a:p>
            <a:pPr marL="0" indent="0" fontAlgn="base"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dirty="0" smtClean="0"/>
              <a:t>Jenkins vs. BAS</a:t>
            </a:r>
            <a:endParaRPr lang="en-US" altLang="en-US" dirty="0" smtClean="0">
              <a:solidFill>
                <a:srgbClr val="FF0000"/>
              </a:solidFill>
            </a:endParaRPr>
          </a:p>
          <a:p>
            <a:pPr lvl="1" eaLnBrk="1" hangingPunct="1"/>
            <a:r>
              <a:rPr lang="en-US" altLang="en-US" dirty="0" smtClean="0"/>
              <a:t>Via BAS:</a:t>
            </a:r>
          </a:p>
          <a:p>
            <a:pPr lvl="2" eaLnBrk="1" hangingPunct="1"/>
            <a:r>
              <a:rPr lang="en-US" altLang="en-US" dirty="0" smtClean="0"/>
              <a:t>Code is compiled and packaged but tests are not run automatically</a:t>
            </a:r>
          </a:p>
          <a:p>
            <a:pPr lvl="2" eaLnBrk="1" hangingPunct="1"/>
            <a:r>
              <a:rPr lang="en-US" altLang="en-US" dirty="0" smtClean="0"/>
              <a:t>Builds cannot be scheduled. Must be manual</a:t>
            </a:r>
          </a:p>
          <a:p>
            <a:pPr lvl="1" eaLnBrk="1" hangingPunct="1"/>
            <a:r>
              <a:rPr lang="en-US" altLang="en-US" dirty="0" smtClean="0"/>
              <a:t>Via Jenkins:</a:t>
            </a:r>
          </a:p>
          <a:p>
            <a:pPr lvl="2" eaLnBrk="1" hangingPunct="1"/>
            <a:r>
              <a:rPr lang="en-US" altLang="en-US" dirty="0" smtClean="0"/>
              <a:t>Code is tested after every commit</a:t>
            </a:r>
          </a:p>
          <a:p>
            <a:pPr lvl="2" eaLnBrk="1" hangingPunct="1"/>
            <a:r>
              <a:rPr lang="en-US" altLang="en-US" dirty="0" smtClean="0"/>
              <a:t>Build process is automated with make or bash scripts</a:t>
            </a:r>
          </a:p>
          <a:p>
            <a:pPr lvl="2" eaLnBrk="1" hangingPunct="1"/>
            <a:r>
              <a:rPr lang="en-US" altLang="en-US" dirty="0" smtClean="0"/>
              <a:t>Bugs are found earlier and easier to fix due to tests</a:t>
            </a:r>
          </a:p>
          <a:p>
            <a:pPr lvl="2" eaLnBrk="1" hangingPunct="1"/>
            <a:r>
              <a:rPr lang="en-US" altLang="en-US" dirty="0" smtClean="0"/>
              <a:t>Merge conflicts and schedule slips are reduced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VSMPKG and DGCS use common code. How portable are these tests?</a:t>
            </a:r>
          </a:p>
          <a:p>
            <a:pPr lvl="1"/>
            <a:r>
              <a:rPr lang="en-US" dirty="0" smtClean="0"/>
              <a:t>A: You can copy and paste your tests from one CSC to another. The main overhead is getting the </a:t>
            </a:r>
            <a:r>
              <a:rPr lang="en-US" dirty="0" err="1" smtClean="0"/>
              <a:t>makefile</a:t>
            </a:r>
            <a:r>
              <a:rPr lang="en-US" dirty="0" smtClean="0"/>
              <a:t> to build them in respect to the project directory.</a:t>
            </a:r>
          </a:p>
          <a:p>
            <a:r>
              <a:rPr lang="en-US" dirty="0" smtClean="0"/>
              <a:t>Can we put </a:t>
            </a:r>
            <a:r>
              <a:rPr lang="en-US" dirty="0" err="1" smtClean="0"/>
              <a:t>CppUTest</a:t>
            </a:r>
            <a:r>
              <a:rPr lang="en-US" dirty="0" smtClean="0"/>
              <a:t> on an embedded environment?</a:t>
            </a:r>
          </a:p>
          <a:p>
            <a:pPr lvl="1"/>
            <a:r>
              <a:rPr lang="en-US" dirty="0" smtClean="0"/>
              <a:t>A: Yes. </a:t>
            </a:r>
            <a:r>
              <a:rPr lang="en-US" dirty="0" err="1" smtClean="0"/>
              <a:t>CppUTest</a:t>
            </a:r>
            <a:r>
              <a:rPr lang="en-US" dirty="0" smtClean="0"/>
              <a:t> is pure C++ and can be compiled into a different environment and be ready to load.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 smtClean="0"/>
              <a:t>Portability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741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8450580" cy="4525963"/>
          </a:xfrm>
        </p:spPr>
        <p:txBody>
          <a:bodyPr/>
          <a:lstStyle/>
          <a:p>
            <a:r>
              <a:rPr lang="en-US" dirty="0" smtClean="0"/>
              <a:t>Will implementing this change our </a:t>
            </a:r>
            <a:r>
              <a:rPr lang="en-US" dirty="0" err="1" smtClean="0"/>
              <a:t>DevTrack</a:t>
            </a:r>
            <a:r>
              <a:rPr lang="en-US" dirty="0" smtClean="0"/>
              <a:t> Process?</a:t>
            </a:r>
          </a:p>
          <a:p>
            <a:pPr lvl="1"/>
            <a:r>
              <a:rPr lang="en-US" sz="2000" dirty="0" smtClean="0"/>
              <a:t>A: No. The fundamental ideas of our </a:t>
            </a:r>
            <a:r>
              <a:rPr lang="en-US" sz="2000" dirty="0" err="1" smtClean="0"/>
              <a:t>DevTrack</a:t>
            </a:r>
            <a:r>
              <a:rPr lang="en-US" sz="2000" dirty="0" smtClean="0"/>
              <a:t> Process are sound. The goal is not to eliminate our system testing, only to add another layer of unit tests for robustness and rigor.</a:t>
            </a:r>
          </a:p>
          <a:p>
            <a:r>
              <a:rPr lang="en-US" dirty="0" smtClean="0"/>
              <a:t>Has there been a CR that used this yet?</a:t>
            </a:r>
          </a:p>
          <a:p>
            <a:pPr lvl="1"/>
            <a:r>
              <a:rPr lang="en-US" sz="2000" dirty="0" smtClean="0"/>
              <a:t>A: Yes, look into the following CRs:</a:t>
            </a:r>
          </a:p>
          <a:p>
            <a:pPr lvl="1"/>
            <a:r>
              <a:rPr lang="en-US" sz="2000" dirty="0" smtClean="0"/>
              <a:t>CR:51666: DFCS: Support Ethernet</a:t>
            </a:r>
          </a:p>
          <a:p>
            <a:pPr lvl="1"/>
            <a:r>
              <a:rPr lang="en-US" sz="2000" dirty="0" smtClean="0"/>
              <a:t>CR:53665: DFCS: Support VDM</a:t>
            </a:r>
          </a:p>
          <a:p>
            <a:pPr lvl="1"/>
            <a:r>
              <a:rPr lang="en-US" sz="2000" dirty="0" smtClean="0"/>
              <a:t>CR:54240: DFCS: ARC-231 Removal</a:t>
            </a:r>
          </a:p>
          <a:p>
            <a:pPr lvl="1"/>
            <a:r>
              <a:rPr lang="en-US" sz="2000" dirty="0" smtClean="0"/>
              <a:t>CR:54243: ICM: ARC-231 Standalone</a:t>
            </a:r>
          </a:p>
          <a:p>
            <a:pPr lvl="1"/>
            <a:r>
              <a:rPr lang="en-US" sz="2000" dirty="0" smtClean="0"/>
              <a:t>Nose Camera, IR Beacons, Daylight Camera</a:t>
            </a:r>
          </a:p>
          <a:p>
            <a:pPr lvl="1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 smtClean="0"/>
              <a:t>Process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620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Is it possible to use </a:t>
            </a:r>
            <a:r>
              <a:rPr lang="en-US" dirty="0" err="1" smtClean="0"/>
              <a:t>CppUTest</a:t>
            </a:r>
            <a:r>
              <a:rPr lang="en-US" dirty="0" smtClean="0"/>
              <a:t> to verify our requirements?</a:t>
            </a:r>
          </a:p>
          <a:p>
            <a:pPr lvl="1"/>
            <a:r>
              <a:rPr lang="en-US" dirty="0" smtClean="0"/>
              <a:t>A: Technically, unit testing is </a:t>
            </a:r>
            <a:r>
              <a:rPr lang="en-US" b="1" dirty="0" smtClean="0"/>
              <a:t>not</a:t>
            </a:r>
            <a:r>
              <a:rPr lang="en-US" dirty="0" smtClean="0"/>
              <a:t> appropriate for requirements verification. An </a:t>
            </a:r>
            <a:r>
              <a:rPr lang="en-US" b="1" dirty="0" smtClean="0"/>
              <a:t>Acceptance Test</a:t>
            </a:r>
            <a:r>
              <a:rPr lang="en-US" dirty="0" smtClean="0"/>
              <a:t> is more appropriate for that.</a:t>
            </a:r>
            <a:endParaRPr lang="en-US" dirty="0"/>
          </a:p>
          <a:p>
            <a:pPr lvl="1"/>
            <a:r>
              <a:rPr lang="en-US" dirty="0" smtClean="0"/>
              <a:t>A: However, our </a:t>
            </a:r>
            <a:r>
              <a:rPr lang="en-US" b="1" dirty="0" smtClean="0"/>
              <a:t>SRS</a:t>
            </a:r>
            <a:r>
              <a:rPr lang="en-US" dirty="0" smtClean="0"/>
              <a:t> requirements on DOORS are so low level and include so many system details that it is feasible to write unit tests for them. (See ARC-231)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 smtClean="0"/>
              <a:t>Requirements Verification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899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Yes. It has been done before.</a:t>
            </a:r>
          </a:p>
          <a:p>
            <a:pPr lvl="1"/>
            <a:r>
              <a:rPr lang="en-US" dirty="0" smtClean="0"/>
              <a:t>Refer to </a:t>
            </a:r>
            <a:r>
              <a:rPr lang="en-US" b="1" dirty="0" smtClean="0"/>
              <a:t>Paul Chen</a:t>
            </a:r>
            <a:r>
              <a:rPr lang="en-US" dirty="0" smtClean="0"/>
              <a:t> for previous efforts</a:t>
            </a:r>
          </a:p>
          <a:p>
            <a:pPr lvl="1"/>
            <a:r>
              <a:rPr lang="en-US" dirty="0" smtClean="0"/>
              <a:t>Refer to </a:t>
            </a:r>
            <a:r>
              <a:rPr lang="en-US" b="1" dirty="0" smtClean="0"/>
              <a:t>Elizabeth Guerrero</a:t>
            </a:r>
            <a:r>
              <a:rPr lang="en-US" dirty="0" smtClean="0"/>
              <a:t> for SC2 effort</a:t>
            </a:r>
          </a:p>
          <a:p>
            <a:pPr lvl="1"/>
            <a:r>
              <a:rPr lang="en-US" dirty="0" smtClean="0"/>
              <a:t>Refer to </a:t>
            </a:r>
            <a:r>
              <a:rPr lang="en-US" b="1" dirty="0" smtClean="0"/>
              <a:t>Rebecca Thompson/Cara Johnson </a:t>
            </a:r>
            <a:r>
              <a:rPr lang="en-US" dirty="0" smtClean="0"/>
              <a:t>for VSM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 smtClean="0"/>
              <a:t>Does Jenkins work with Squish and </a:t>
            </a:r>
            <a:r>
              <a:rPr lang="en-US" dirty="0" err="1" smtClean="0"/>
              <a:t>Vectorcast</a:t>
            </a:r>
            <a:r>
              <a:rPr lang="en-US" dirty="0" smtClean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4910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8450580" cy="4525963"/>
          </a:xfrm>
        </p:spPr>
        <p:txBody>
          <a:bodyPr/>
          <a:lstStyle/>
          <a:p>
            <a:r>
              <a:rPr lang="en-US" dirty="0" smtClean="0"/>
              <a:t>What is the difference between </a:t>
            </a:r>
            <a:r>
              <a:rPr lang="en-US" dirty="0" err="1" smtClean="0"/>
              <a:t>VectorCAST</a:t>
            </a:r>
            <a:r>
              <a:rPr lang="en-US" dirty="0" smtClean="0"/>
              <a:t> and </a:t>
            </a:r>
            <a:r>
              <a:rPr lang="en-US" dirty="0" err="1" smtClean="0"/>
              <a:t>CppUTest</a:t>
            </a:r>
            <a:r>
              <a:rPr lang="en-US" dirty="0" smtClean="0"/>
              <a:t>?</a:t>
            </a:r>
          </a:p>
          <a:p>
            <a:pPr lvl="1"/>
            <a:r>
              <a:rPr lang="en-US" dirty="0" smtClean="0"/>
              <a:t>Cost:</a:t>
            </a:r>
            <a:endParaRPr lang="en-US" dirty="0"/>
          </a:p>
          <a:p>
            <a:pPr lvl="2"/>
            <a:r>
              <a:rPr lang="en-US" dirty="0" err="1" smtClean="0"/>
              <a:t>VectorCAST</a:t>
            </a:r>
            <a:r>
              <a:rPr lang="en-US" dirty="0" smtClean="0"/>
              <a:t> costs about </a:t>
            </a:r>
            <a:r>
              <a:rPr lang="en-US" b="1" dirty="0" smtClean="0"/>
              <a:t>$5000+ per license</a:t>
            </a:r>
            <a:r>
              <a:rPr lang="en-US" dirty="0" smtClean="0"/>
              <a:t> and only a limited number of people can access it at once</a:t>
            </a:r>
            <a:endParaRPr lang="en-US" dirty="0"/>
          </a:p>
          <a:p>
            <a:pPr lvl="2"/>
            <a:r>
              <a:rPr lang="en-US" dirty="0" err="1" smtClean="0"/>
              <a:t>CppUTest</a:t>
            </a:r>
            <a:r>
              <a:rPr lang="en-US" dirty="0" smtClean="0"/>
              <a:t> is free and there is no limit on accessibility</a:t>
            </a:r>
          </a:p>
          <a:p>
            <a:pPr lvl="1"/>
            <a:r>
              <a:rPr lang="en-US" dirty="0" smtClean="0"/>
              <a:t>Tooling/Training:</a:t>
            </a:r>
          </a:p>
          <a:p>
            <a:pPr lvl="2"/>
            <a:r>
              <a:rPr lang="en-US" dirty="0" err="1" smtClean="0"/>
              <a:t>VectorCAST</a:t>
            </a:r>
            <a:r>
              <a:rPr lang="en-US" dirty="0" smtClean="0"/>
              <a:t> uses a proprietary method of testing code</a:t>
            </a:r>
          </a:p>
          <a:p>
            <a:pPr lvl="2"/>
            <a:r>
              <a:rPr lang="en-US" dirty="0" err="1" smtClean="0"/>
              <a:t>CppUTest</a:t>
            </a:r>
            <a:r>
              <a:rPr lang="en-US" dirty="0" smtClean="0"/>
              <a:t> uses C/C++ code and uses the linker to test individual modules.</a:t>
            </a:r>
          </a:p>
          <a:p>
            <a:pPr lvl="2"/>
            <a:r>
              <a:rPr lang="en-US" dirty="0" smtClean="0"/>
              <a:t>New Grads and People from other companies have knowledge of unit testing.</a:t>
            </a:r>
            <a:endParaRPr lang="en-US" dirty="0"/>
          </a:p>
          <a:p>
            <a:pPr lvl="1"/>
            <a:endParaRPr lang="en-US" b="1" dirty="0"/>
          </a:p>
          <a:p>
            <a:pPr lvl="1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-8355" y="217256"/>
            <a:ext cx="9144000" cy="492991"/>
          </a:xfrm>
        </p:spPr>
        <p:txBody>
          <a:bodyPr/>
          <a:lstStyle/>
          <a:p>
            <a:r>
              <a:rPr lang="en-US" dirty="0" err="1" smtClean="0"/>
              <a:t>VectorCAST</a:t>
            </a:r>
            <a:r>
              <a:rPr lang="en-US" dirty="0" smtClean="0"/>
              <a:t> vs </a:t>
            </a:r>
            <a:r>
              <a:rPr lang="en-US" dirty="0" err="1" smtClean="0"/>
              <a:t>CppUTest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777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One of the biggest concerns with introducing a new tool is that people are unfamiliar and can’t find resources.</a:t>
            </a:r>
          </a:p>
          <a:p>
            <a:pPr lvl="1"/>
            <a:r>
              <a:rPr lang="en-US" dirty="0" smtClean="0"/>
              <a:t>A: Fortunately </a:t>
            </a:r>
            <a:r>
              <a:rPr lang="en-US" dirty="0" err="1" smtClean="0"/>
              <a:t>CppUTest</a:t>
            </a:r>
            <a:r>
              <a:rPr lang="en-US" dirty="0" smtClean="0"/>
              <a:t> unit tests are written in C/C++ which is a common language used for Army SW.</a:t>
            </a:r>
          </a:p>
          <a:p>
            <a:pPr lvl="1"/>
            <a:r>
              <a:rPr lang="en-US" dirty="0" smtClean="0"/>
              <a:t>A: There are many resources and books available on unit testing as an idea;</a:t>
            </a:r>
          </a:p>
          <a:p>
            <a:pPr lvl="2"/>
            <a:r>
              <a:rPr lang="en-US" i="1" dirty="0" smtClean="0"/>
              <a:t>Clean Code</a:t>
            </a:r>
            <a:r>
              <a:rPr lang="en-US" dirty="0" smtClean="0"/>
              <a:t> by Robert C. Martin</a:t>
            </a:r>
          </a:p>
          <a:p>
            <a:pPr lvl="2"/>
            <a:r>
              <a:rPr lang="en-US" i="1" dirty="0" smtClean="0"/>
              <a:t>Test Driven Development: By Example</a:t>
            </a:r>
            <a:r>
              <a:rPr lang="en-US" dirty="0" smtClean="0"/>
              <a:t> by Kent Beck</a:t>
            </a:r>
            <a:endParaRPr lang="en-US" i="1" dirty="0" smtClean="0"/>
          </a:p>
          <a:p>
            <a:pPr lvl="1"/>
            <a:r>
              <a:rPr lang="en-US" dirty="0" smtClean="0"/>
              <a:t>A: For </a:t>
            </a:r>
            <a:r>
              <a:rPr lang="en-US" dirty="0" err="1" smtClean="0"/>
              <a:t>CppUTest</a:t>
            </a:r>
            <a:r>
              <a:rPr lang="en-US" dirty="0" smtClean="0"/>
              <a:t> Specifically:</a:t>
            </a:r>
          </a:p>
          <a:p>
            <a:pPr lvl="2"/>
            <a:r>
              <a:rPr lang="en-US" i="1" dirty="0" smtClean="0"/>
              <a:t>Test-Driven Development for Embedded C</a:t>
            </a:r>
            <a:r>
              <a:rPr lang="en-US" dirty="0" smtClean="0"/>
              <a:t> by James W. </a:t>
            </a:r>
            <a:r>
              <a:rPr lang="en-US" dirty="0" err="1" smtClean="0"/>
              <a:t>Grenning</a:t>
            </a:r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 smtClean="0"/>
              <a:t>Training?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755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Our code isn’t built to be tested. Wouldn’t this make it very difficult to add tests after the fact?</a:t>
            </a:r>
          </a:p>
          <a:p>
            <a:pPr lvl="1"/>
            <a:r>
              <a:rPr lang="en-US" dirty="0" smtClean="0"/>
              <a:t>A: No, GA isn’t the first company to have legacy systems and it won’t be the last. There are techniques that allow developers to add tests to access static or local </a:t>
            </a:r>
            <a:r>
              <a:rPr lang="en-US" dirty="0" smtClean="0"/>
              <a:t>variables &amp; functions.</a:t>
            </a:r>
            <a:endParaRPr lang="en-US" dirty="0" smtClean="0"/>
          </a:p>
          <a:p>
            <a:pPr lvl="1"/>
            <a:r>
              <a:rPr lang="en-US" dirty="0" smtClean="0"/>
              <a:t>A: These techniques include but are not limited to:</a:t>
            </a:r>
          </a:p>
          <a:p>
            <a:pPr lvl="2"/>
            <a:r>
              <a:rPr lang="en-US" b="1" dirty="0" smtClean="0"/>
              <a:t>Dummy Test Doubles</a:t>
            </a:r>
          </a:p>
          <a:p>
            <a:pPr lvl="2"/>
            <a:r>
              <a:rPr lang="en-US" b="1" dirty="0" smtClean="0"/>
              <a:t>Spies</a:t>
            </a:r>
          </a:p>
          <a:p>
            <a:pPr lvl="2"/>
            <a:r>
              <a:rPr lang="en-US" b="1" dirty="0" smtClean="0"/>
              <a:t>Mocks</a:t>
            </a:r>
          </a:p>
          <a:p>
            <a:pPr lvl="2"/>
            <a:r>
              <a:rPr lang="en-US" b="1" dirty="0" smtClean="0"/>
              <a:t>Fakes</a:t>
            </a:r>
            <a:endParaRPr lang="en-US" b="1" dirty="0"/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 smtClean="0"/>
              <a:t>Our Code isn’t Built to be Tested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2857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525963"/>
          </a:xfrm>
        </p:spPr>
        <p:txBody>
          <a:bodyPr/>
          <a:lstStyle/>
          <a:p>
            <a:r>
              <a:rPr lang="en-US" dirty="0" smtClean="0"/>
              <a:t>Don’t we already do unit testing at GA?</a:t>
            </a:r>
          </a:p>
          <a:p>
            <a:pPr lvl="1"/>
            <a:r>
              <a:rPr lang="en-US" dirty="0" smtClean="0"/>
              <a:t>A: No. The type of testing we do can be more precisely categorized as </a:t>
            </a:r>
            <a:r>
              <a:rPr lang="en-US" b="1" dirty="0" smtClean="0"/>
              <a:t>System Testing</a:t>
            </a:r>
            <a:r>
              <a:rPr lang="en-US" dirty="0" smtClean="0"/>
              <a:t> or </a:t>
            </a:r>
            <a:r>
              <a:rPr lang="en-US" b="1" dirty="0" smtClean="0"/>
              <a:t>End-To-End Testing</a:t>
            </a:r>
            <a:r>
              <a:rPr lang="en-US" dirty="0"/>
              <a:t> </a:t>
            </a:r>
            <a:r>
              <a:rPr lang="en-US" dirty="0" smtClean="0"/>
              <a:t>because we are testing from the perspective of the user/operator.</a:t>
            </a:r>
          </a:p>
          <a:p>
            <a:pPr lvl="2"/>
            <a:r>
              <a:rPr lang="en-US" dirty="0" smtClean="0"/>
              <a:t>These other forms of testing are completely valid for delivering the final product but are inappropriate for software testing. </a:t>
            </a:r>
          </a:p>
          <a:p>
            <a:pPr lvl="2"/>
            <a:r>
              <a:rPr lang="en-US" dirty="0" smtClean="0"/>
              <a:t>Main disadvantage is that we do not know if a problem is caused by your software or some unknown hardware problem or some other software bug.</a:t>
            </a:r>
          </a:p>
          <a:p>
            <a:pPr lvl="1"/>
            <a:r>
              <a:rPr lang="en-US" dirty="0" smtClean="0"/>
              <a:t>Unit testing is more appropriate to verify logic in SW</a:t>
            </a:r>
          </a:p>
          <a:p>
            <a:pPr lvl="1"/>
            <a:r>
              <a:rPr lang="en-US" dirty="0" smtClean="0"/>
              <a:t>Integration testing is more appropriate for integration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-8355" y="217256"/>
            <a:ext cx="9144000" cy="492991"/>
          </a:xfrm>
        </p:spPr>
        <p:txBody>
          <a:bodyPr/>
          <a:lstStyle/>
          <a:p>
            <a:r>
              <a:rPr lang="en-US" dirty="0" smtClean="0"/>
              <a:t>We already do Unit Testing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653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More Background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457200" y="1403350"/>
            <a:ext cx="8229600" cy="4525963"/>
          </a:xfrm>
        </p:spPr>
        <p:txBody>
          <a:bodyPr/>
          <a:lstStyle/>
          <a:p>
            <a:pPr marL="0" indent="0" fontAlgn="base"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dirty="0" smtClean="0">
                <a:latin typeface="+mj-lt"/>
                <a:cs typeface="Arial" panose="020B0604020202020204" pitchFamily="34" charset="0"/>
              </a:rPr>
              <a:t>What is Test Driven Development (TDD)?</a:t>
            </a:r>
            <a:endParaRPr lang="en-US" altLang="en-US" strike="sngStrike" dirty="0" smtClean="0">
              <a:solidFill>
                <a:srgbClr val="FF0000"/>
              </a:solidFill>
              <a:latin typeface="+mj-lt"/>
              <a:cs typeface="Arial" panose="020B0604020202020204" pitchFamily="34" charset="0"/>
            </a:endParaRPr>
          </a:p>
          <a:p>
            <a:pPr lvl="1" eaLnBrk="1" hangingPunct="1"/>
            <a:r>
              <a:rPr lang="en-US" altLang="en-US" dirty="0" smtClean="0">
                <a:latin typeface="+mj-lt"/>
                <a:cs typeface="Arial" panose="020B0604020202020204" pitchFamily="34" charset="0"/>
              </a:rPr>
              <a:t>Continual testing and revision</a:t>
            </a:r>
          </a:p>
          <a:p>
            <a:pPr lvl="2" eaLnBrk="1" hangingPunct="1"/>
            <a:r>
              <a:rPr lang="en-US" altLang="en-US" dirty="0" smtClean="0">
                <a:latin typeface="+mj-lt"/>
                <a:cs typeface="Arial" panose="020B0604020202020204" pitchFamily="34" charset="0"/>
              </a:rPr>
              <a:t>Test automation: Check every new code’s function and check existing code’s compatibility with change</a:t>
            </a:r>
          </a:p>
          <a:p>
            <a:pPr marL="0" indent="0" fontAlgn="base"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sz="1000" dirty="0" smtClean="0">
              <a:cs typeface="Arial" panose="020B0604020202020204" pitchFamily="34" charset="0"/>
            </a:endParaRPr>
          </a:p>
          <a:p>
            <a:pPr marL="0" indent="0" fontAlgn="base"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dirty="0" smtClean="0">
                <a:cs typeface="Arial" panose="020B0604020202020204" pitchFamily="34" charset="0"/>
              </a:rPr>
              <a:t>What </a:t>
            </a:r>
            <a:r>
              <a:rPr lang="en-US" altLang="en-US" dirty="0">
                <a:cs typeface="Arial" panose="020B0604020202020204" pitchFamily="34" charset="0"/>
              </a:rPr>
              <a:t>is Unit Testing?</a:t>
            </a:r>
            <a:endParaRPr lang="en-US" altLang="en-US" strike="sngStrike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lvl="1" eaLnBrk="1" hangingPunct="1"/>
            <a:r>
              <a:rPr lang="en-US" altLang="en-US" dirty="0">
                <a:cs typeface="Arial" panose="020B0604020202020204" pitchFamily="34" charset="0"/>
              </a:rPr>
              <a:t>Unit testing </a:t>
            </a:r>
            <a:r>
              <a:rPr lang="en-US" altLang="en-US" dirty="0" smtClean="0">
                <a:cs typeface="Arial" panose="020B0604020202020204" pitchFamily="34" charset="0"/>
              </a:rPr>
              <a:t>is a method of TDD</a:t>
            </a:r>
            <a:endParaRPr lang="en-US" altLang="en-US" sz="1000" dirty="0" smtClean="0">
              <a:latin typeface="+mj-lt"/>
              <a:cs typeface="Arial" panose="020B0604020202020204" pitchFamily="34" charset="0"/>
            </a:endParaRPr>
          </a:p>
          <a:p>
            <a:pPr lvl="2" eaLnBrk="1" hangingPunct="1"/>
            <a:r>
              <a:rPr lang="en-US" altLang="en-US" dirty="0" smtClean="0">
                <a:latin typeface="+mj-lt"/>
                <a:cs typeface="Arial" panose="020B0604020202020204" pitchFamily="34" charset="0"/>
              </a:rPr>
              <a:t>Code which verifies behavior and passes or fails the result to identify bugs or loopholes</a:t>
            </a:r>
          </a:p>
          <a:p>
            <a:pPr lvl="1" eaLnBrk="1" hangingPunct="1"/>
            <a:r>
              <a:rPr lang="en-US" altLang="en-US" dirty="0" smtClean="0">
                <a:latin typeface="+mj-lt"/>
                <a:cs typeface="Arial" panose="020B0604020202020204" pitchFamily="34" charset="0"/>
              </a:rPr>
              <a:t>Tests reflect production code’s desired behavior</a:t>
            </a:r>
          </a:p>
          <a:p>
            <a:pPr lvl="2" eaLnBrk="1" hangingPunct="1"/>
            <a:r>
              <a:rPr lang="en-US" altLang="en-US" dirty="0" smtClean="0">
                <a:latin typeface="+mj-lt"/>
                <a:cs typeface="Arial" panose="020B0604020202020204" pitchFamily="34" charset="0"/>
              </a:rPr>
              <a:t>A form of documentation on test goals</a:t>
            </a:r>
          </a:p>
          <a:p>
            <a:pPr lvl="2" eaLnBrk="1" hangingPunct="1"/>
            <a:r>
              <a:rPr lang="en-US" altLang="en-US" dirty="0" smtClean="0">
                <a:latin typeface="+mj-lt"/>
                <a:cs typeface="Arial" panose="020B0604020202020204" pitchFamily="34" charset="0"/>
              </a:rPr>
              <a:t>FIRST: Fast, Isolated, Repeatable, Self-verifying, Timely</a:t>
            </a:r>
          </a:p>
          <a:p>
            <a:pPr lvl="2" eaLnBrk="1" hangingPunct="1"/>
            <a:endParaRPr lang="en-US" altLang="en-US" dirty="0" smtClean="0">
              <a:latin typeface="+mj-lt"/>
              <a:cs typeface="Arial" panose="020B0604020202020204" pitchFamily="34" charset="0"/>
            </a:endParaRPr>
          </a:p>
          <a:p>
            <a:pPr marL="0" indent="0" fontAlgn="base"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dirty="0" smtClean="0"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984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4 Stages of Compiling</a:t>
            </a:r>
          </a:p>
        </p:txBody>
      </p:sp>
      <p:pic>
        <p:nvPicPr>
          <p:cNvPr id="1030" name="Picture 6" descr="Compiling and Linking in C++ - C++ Articl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865" y="2235484"/>
            <a:ext cx="7551150" cy="2527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Straight Arrow Connector 24"/>
          <p:cNvCxnSpPr/>
          <p:nvPr/>
        </p:nvCxnSpPr>
        <p:spPr>
          <a:xfrm flipV="1">
            <a:off x="6885472" y="4702659"/>
            <a:ext cx="0" cy="34347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43303" y="5048568"/>
            <a:ext cx="1515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 smtClean="0"/>
              <a:t>Libraries</a:t>
            </a:r>
          </a:p>
          <a:p>
            <a:pPr algn="ctr"/>
            <a:r>
              <a:rPr lang="en-US" sz="1200" dirty="0" smtClean="0"/>
              <a:t>(Use mock files for</a:t>
            </a:r>
          </a:p>
          <a:p>
            <a:pPr algn="ctr"/>
            <a:r>
              <a:rPr lang="en-US" sz="1200" dirty="0"/>
              <a:t>m</a:t>
            </a:r>
            <a:r>
              <a:rPr lang="en-US" sz="1200" dirty="0" smtClean="0"/>
              <a:t>issing symbols)</a:t>
            </a:r>
            <a:endParaRPr lang="en-US" sz="1200" dirty="0"/>
          </a:p>
        </p:txBody>
      </p:sp>
      <p:sp>
        <p:nvSpPr>
          <p:cNvPr id="37" name="Rounded Rectangle 36"/>
          <p:cNvSpPr/>
          <p:nvPr/>
        </p:nvSpPr>
        <p:spPr>
          <a:xfrm>
            <a:off x="735676" y="2203747"/>
            <a:ext cx="1482592" cy="2506448"/>
          </a:xfrm>
          <a:prstGeom prst="roundRect">
            <a:avLst/>
          </a:prstGeom>
          <a:noFill/>
          <a:ln w="19050">
            <a:solidFill>
              <a:schemeClr val="tx2">
                <a:lumMod val="40000"/>
                <a:lumOff val="60000"/>
              </a:schemeClr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37"/>
          <p:cNvSpPr/>
          <p:nvPr/>
        </p:nvSpPr>
        <p:spPr>
          <a:xfrm>
            <a:off x="2286511" y="2203747"/>
            <a:ext cx="1482592" cy="2506448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"/>
          </a:p>
        </p:txBody>
      </p:sp>
      <p:sp>
        <p:nvSpPr>
          <p:cNvPr id="40" name="Rounded Rectangle 39"/>
          <p:cNvSpPr/>
          <p:nvPr/>
        </p:nvSpPr>
        <p:spPr>
          <a:xfrm>
            <a:off x="3822292" y="2203747"/>
            <a:ext cx="1482592" cy="2506448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"/>
          </a:p>
        </p:txBody>
      </p:sp>
      <p:sp>
        <p:nvSpPr>
          <p:cNvPr id="43" name="Rounded Rectangle 42"/>
          <p:cNvSpPr/>
          <p:nvPr/>
        </p:nvSpPr>
        <p:spPr>
          <a:xfrm>
            <a:off x="5377567" y="2205541"/>
            <a:ext cx="1482592" cy="2506448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" b="1">
              <a:ln w="38100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6917165" y="2196210"/>
            <a:ext cx="1482592" cy="2506448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00" b="1">
              <a:ln w="38100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3679989" y="3464262"/>
            <a:ext cx="284605" cy="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5224027" y="3457579"/>
            <a:ext cx="284605" cy="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6766323" y="3450286"/>
            <a:ext cx="284605" cy="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0618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Potential Questions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457200" y="1403350"/>
            <a:ext cx="8229600" cy="4462463"/>
          </a:xfrm>
        </p:spPr>
        <p:txBody>
          <a:bodyPr/>
          <a:lstStyle/>
          <a:p>
            <a:r>
              <a:rPr lang="en-US" sz="1600" b="0" dirty="0"/>
              <a:t>1.) </a:t>
            </a:r>
            <a:r>
              <a:rPr lang="en-US" sz="1600" dirty="0" smtClean="0"/>
              <a:t>What is the cost of unit testing?</a:t>
            </a:r>
          </a:p>
          <a:p>
            <a:pPr lvl="1"/>
            <a:r>
              <a:rPr lang="en-US" sz="1600" dirty="0" smtClean="0"/>
              <a:t>Code only breaks if you touch it (since we know the plane already flies)</a:t>
            </a:r>
          </a:p>
          <a:p>
            <a:pPr lvl="1"/>
            <a:r>
              <a:rPr lang="en-US" sz="1600" b="0" dirty="0" smtClean="0"/>
              <a:t>If you’re going to test in the SIL, we may as well write tests for it</a:t>
            </a:r>
            <a:endParaRPr lang="en-US" sz="1600" b="0" dirty="0"/>
          </a:p>
          <a:p>
            <a:endParaRPr lang="en-US" sz="500" b="0" dirty="0" smtClean="0"/>
          </a:p>
          <a:p>
            <a:r>
              <a:rPr lang="en-US" sz="1600" b="0" dirty="0" smtClean="0"/>
              <a:t>2.) </a:t>
            </a:r>
            <a:r>
              <a:rPr lang="en-US" sz="1600" dirty="0"/>
              <a:t>How will we train people to write unit tests?</a:t>
            </a:r>
          </a:p>
          <a:p>
            <a:pPr lvl="1"/>
            <a:r>
              <a:rPr lang="en-US" sz="1600" dirty="0"/>
              <a:t>Unit tests are in C/C++, the idea is simple </a:t>
            </a:r>
          </a:p>
          <a:p>
            <a:pPr lvl="1"/>
            <a:r>
              <a:rPr lang="en-US" sz="1600" dirty="0"/>
              <a:t>I didn’t know C/C++, Linux, Command line and wrote tests</a:t>
            </a:r>
            <a:r>
              <a:rPr lang="en-US" sz="1600" dirty="0" smtClean="0"/>
              <a:t>!</a:t>
            </a:r>
            <a:endParaRPr lang="en-US" sz="800" dirty="0"/>
          </a:p>
          <a:p>
            <a:pPr lvl="1"/>
            <a:endParaRPr lang="en-US" sz="500" dirty="0"/>
          </a:p>
          <a:p>
            <a:r>
              <a:rPr lang="en-US" sz="1600" b="0" dirty="0"/>
              <a:t>3</a:t>
            </a:r>
            <a:r>
              <a:rPr lang="en-US" sz="1600" b="0" dirty="0" smtClean="0"/>
              <a:t>.) </a:t>
            </a:r>
            <a:r>
              <a:rPr lang="en-US" sz="1600" dirty="0" smtClean="0"/>
              <a:t>What about </a:t>
            </a:r>
            <a:r>
              <a:rPr lang="en-US" sz="1600" dirty="0" err="1" smtClean="0"/>
              <a:t>VectorCAST</a:t>
            </a:r>
            <a:r>
              <a:rPr lang="en-US" sz="1600" dirty="0" smtClean="0"/>
              <a:t>?</a:t>
            </a:r>
            <a:endParaRPr lang="en-US" sz="1600" dirty="0"/>
          </a:p>
          <a:p>
            <a:pPr lvl="1"/>
            <a:r>
              <a:rPr lang="en-US" sz="1600" dirty="0" smtClean="0"/>
              <a:t>Expensive licensing, and few people use it</a:t>
            </a:r>
          </a:p>
          <a:p>
            <a:pPr marL="0" indent="0">
              <a:buNone/>
            </a:pPr>
            <a:endParaRPr lang="en-US" sz="500" b="0" dirty="0" smtClean="0"/>
          </a:p>
          <a:p>
            <a:r>
              <a:rPr lang="en-US" sz="1600" b="0" dirty="0" smtClean="0"/>
              <a:t>4.) </a:t>
            </a:r>
            <a:r>
              <a:rPr lang="en-US" sz="1600" dirty="0" smtClean="0"/>
              <a:t>What tool are we using? What is this tool?</a:t>
            </a:r>
            <a:endParaRPr lang="en-US" sz="1600" dirty="0"/>
          </a:p>
          <a:p>
            <a:pPr lvl="1"/>
            <a:r>
              <a:rPr lang="en-US" sz="1600" dirty="0" smtClean="0"/>
              <a:t>Jenkins is a free and open source automation server</a:t>
            </a:r>
            <a:endParaRPr lang="en-US" sz="1600" dirty="0"/>
          </a:p>
          <a:p>
            <a:endParaRPr lang="en-US" sz="500" b="0" dirty="0" smtClean="0"/>
          </a:p>
          <a:p>
            <a:r>
              <a:rPr lang="en-US" sz="1600" b="0" dirty="0" smtClean="0"/>
              <a:t>5.) </a:t>
            </a:r>
            <a:r>
              <a:rPr lang="en-US" sz="1600" dirty="0" smtClean="0"/>
              <a:t>Where can I find Jenkins? What about setting up Jenkins?</a:t>
            </a:r>
          </a:p>
          <a:p>
            <a:pPr lvl="1"/>
            <a:r>
              <a:rPr lang="en-US" sz="16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45625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You already know how:</a:t>
            </a:r>
          </a:p>
          <a:p>
            <a:pPr lvl="1"/>
            <a:r>
              <a:rPr lang="en-US" sz="2000" b="0" dirty="0" err="1" smtClean="0"/>
              <a:t>CppU</a:t>
            </a:r>
            <a:r>
              <a:rPr lang="en-US" sz="2000" b="0" dirty="0" smtClean="0"/>
              <a:t> testing is in C/C++, and most people know the basics of subversion, command line, and terminal</a:t>
            </a:r>
          </a:p>
          <a:p>
            <a:pPr lvl="1"/>
            <a:r>
              <a:rPr lang="en-US" sz="2000" b="0" dirty="0" smtClean="0"/>
              <a:t>Through this presentation I’ve taught you the basics of unit testing and the concepts behind it</a:t>
            </a:r>
          </a:p>
          <a:p>
            <a:pPr marL="457200" lvl="1" indent="0">
              <a:buNone/>
            </a:pPr>
            <a:endParaRPr lang="en-US" sz="2000" b="0" dirty="0" smtClean="0"/>
          </a:p>
          <a:p>
            <a:r>
              <a:rPr lang="en-US" sz="2000" dirty="0" smtClean="0"/>
              <a:t>If I can do it, so can you:</a:t>
            </a:r>
          </a:p>
          <a:p>
            <a:pPr lvl="1"/>
            <a:r>
              <a:rPr lang="en-US" sz="2000" b="0" dirty="0" smtClean="0"/>
              <a:t>As someone who has interned 8 weeks, without any knowledge in C/C++, command line, terminal, or anything about Jenkins or tests, I was able to learn</a:t>
            </a:r>
            <a:endParaRPr lang="en-US" sz="2000" b="0" dirty="0"/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 smtClean="0"/>
              <a:t>How will we train people in unit testing?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225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835ACDB89BA740AD2579D91739102A" ma:contentTypeVersion="2" ma:contentTypeDescription="Create a new document." ma:contentTypeScope="" ma:versionID="a323c96255454a874e99f63b20b9daa7">
  <xsd:schema xmlns:xsd="http://www.w3.org/2001/XMLSchema" xmlns:xs="http://www.w3.org/2001/XMLSchema" xmlns:p="http://schemas.microsoft.com/office/2006/metadata/properties" xmlns:ns2="50f8ad0e-3adf-474a-b561-af233bba80c3" targetNamespace="http://schemas.microsoft.com/office/2006/metadata/properties" ma:root="true" ma:fieldsID="52bc6a0e61476b87390b3cc4e2a868bb" ns2:_="">
    <xsd:import namespace="50f8ad0e-3adf-474a-b561-af233bba80c3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f8ad0e-3adf-474a-b561-af233bba80c3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5.xml><?xml version="1.0" encoding="utf-8"?>
<LongProperties xmlns="http://schemas.microsoft.com/office/2006/metadata/longProperties"/>
</file>

<file path=customXml/itemProps1.xml><?xml version="1.0" encoding="utf-8"?>
<ds:datastoreItem xmlns:ds="http://schemas.openxmlformats.org/officeDocument/2006/customXml" ds:itemID="{9AB8ABCA-CE0F-4507-8A5C-97BB9A4D7F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0f8ad0e-3adf-474a-b561-af233bba80c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C6779D1-EB89-7B40-B2BF-31489F7EE83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C6E3BFE-115C-406C-A5E6-83425702D753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50f8ad0e-3adf-474a-b561-af233bba80c3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4.xml><?xml version="1.0" encoding="utf-8"?>
<ds:datastoreItem xmlns:ds="http://schemas.openxmlformats.org/officeDocument/2006/customXml" ds:itemID="{4E981D61-D97C-8F4F-BF3E-939B014CEDBE}">
  <ds:schemaRefs>
    <ds:schemaRef ds:uri="http://schemas.microsoft.com/sharepoint/events"/>
  </ds:schemaRefs>
</ds:datastoreItem>
</file>

<file path=customXml/itemProps5.xml><?xml version="1.0" encoding="utf-8"?>
<ds:datastoreItem xmlns:ds="http://schemas.openxmlformats.org/officeDocument/2006/customXml" ds:itemID="{DDA2A292-CFF5-A246-9C8B-D28AF6A59800}">
  <ds:schemaRefs>
    <ds:schemaRef ds:uri="http://schemas.microsoft.com/office/2006/metadata/long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FNEMasterTemplateForThemePreview.pptx</Template>
  <TotalTime>5613</TotalTime>
  <Words>3116</Words>
  <Application>Microsoft Office PowerPoint</Application>
  <PresentationFormat>On-screen Show (4:3)</PresentationFormat>
  <Paragraphs>532</Paragraphs>
  <Slides>59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59</vt:i4>
      </vt:variant>
    </vt:vector>
  </HeadingPairs>
  <TitlesOfParts>
    <vt:vector size="67" baseType="lpstr">
      <vt:lpstr>ＭＳ Ｐゴシック</vt:lpstr>
      <vt:lpstr>ＭＳ Ｐゴシック</vt:lpstr>
      <vt:lpstr>Arial</vt:lpstr>
      <vt:lpstr>Calibri</vt:lpstr>
      <vt:lpstr>Century Gothic</vt:lpstr>
      <vt:lpstr>Lucida Grande</vt:lpstr>
      <vt:lpstr>Office Theme</vt:lpstr>
      <vt:lpstr>1_Office Theme</vt:lpstr>
      <vt:lpstr>Software Intern Presentation</vt:lpstr>
      <vt:lpstr>PowerPoint Presentation</vt:lpstr>
      <vt:lpstr>Administrative Information</vt:lpstr>
      <vt:lpstr>Background</vt:lpstr>
      <vt:lpstr>Background</vt:lpstr>
      <vt:lpstr>Tasks</vt:lpstr>
      <vt:lpstr>PowerPoint Presentation</vt:lpstr>
      <vt:lpstr>Methodology</vt:lpstr>
      <vt:lpstr>PowerPoint Presentation</vt:lpstr>
      <vt:lpstr>4 Stages of Compiling</vt:lpstr>
      <vt:lpstr>4 Stages of Compiling</vt:lpstr>
      <vt:lpstr>4 Stages of Compiling</vt:lpstr>
      <vt:lpstr>How to Isolate Features (with Fakes)</vt:lpstr>
      <vt:lpstr>How to Isolate Features (with Fakes)</vt:lpstr>
      <vt:lpstr>How to Isolate Features (with Fakes)</vt:lpstr>
      <vt:lpstr>How to Isolate Features (with Fakes)</vt:lpstr>
      <vt:lpstr>PowerPoint Presentation</vt:lpstr>
      <vt:lpstr>Process of Writing Tests</vt:lpstr>
      <vt:lpstr>PowerPoint Presentation</vt:lpstr>
      <vt:lpstr>Example Emergency Recovery/Self Destruct Test</vt:lpstr>
      <vt:lpstr>Example Emergency Recovery/Self Destruct Test</vt:lpstr>
      <vt:lpstr>Example Emergency Recovery/Self Destruct Test</vt:lpstr>
      <vt:lpstr>Example Emergency Recovery/Self Destruct Test</vt:lpstr>
      <vt:lpstr>Example Emergency Recovery/Self Destruct Test</vt:lpstr>
      <vt:lpstr>Example Emergency Recovery/Self Destruct Test</vt:lpstr>
      <vt:lpstr>Example Emergency Recovery/Self Destruct Test</vt:lpstr>
      <vt:lpstr>Example Emergency Recovery/Self Destruct Test</vt:lpstr>
      <vt:lpstr>Example Emergency Recovery/Self Destruct Test</vt:lpstr>
      <vt:lpstr>Example Emergency Recovery/Self Destruct Test</vt:lpstr>
      <vt:lpstr>PowerPoint Presentation</vt:lpstr>
      <vt:lpstr>Code as Living Documentation</vt:lpstr>
      <vt:lpstr>Code as Living Documentation</vt:lpstr>
      <vt:lpstr>Code as Living Documentation</vt:lpstr>
      <vt:lpstr>Code as Living Documentation</vt:lpstr>
      <vt:lpstr>Code as Living Documentation</vt:lpstr>
      <vt:lpstr>Code as Living Documentation</vt:lpstr>
      <vt:lpstr>Code as Living Documentation</vt:lpstr>
      <vt:lpstr>Code as Living Documentation</vt:lpstr>
      <vt:lpstr>PowerPoint Presentation</vt:lpstr>
      <vt:lpstr>Why is another layer of testing valuable?</vt:lpstr>
      <vt:lpstr>Unit Testing makes Software Development Cheaper</vt:lpstr>
      <vt:lpstr>Reflection</vt:lpstr>
      <vt:lpstr>PowerPoint Presentation</vt:lpstr>
      <vt:lpstr>Potential Questions – Table Of Contents</vt:lpstr>
      <vt:lpstr>What is this Tool? / Why pick this?</vt:lpstr>
      <vt:lpstr>Time and Cost Investment</vt:lpstr>
      <vt:lpstr>Benefits of Using Jenkins for Unit Tests</vt:lpstr>
      <vt:lpstr>Portability</vt:lpstr>
      <vt:lpstr>Process</vt:lpstr>
      <vt:lpstr>Requirements Verification</vt:lpstr>
      <vt:lpstr>Does Jenkins work with Squish and Vectorcast?</vt:lpstr>
      <vt:lpstr>VectorCAST vs CppUTest</vt:lpstr>
      <vt:lpstr>Training?</vt:lpstr>
      <vt:lpstr>Our Code isn’t Built to be Tested</vt:lpstr>
      <vt:lpstr>We already do Unit Testing</vt:lpstr>
      <vt:lpstr>More Background</vt:lpstr>
      <vt:lpstr>4 Stages of Compiling</vt:lpstr>
      <vt:lpstr>Potential Questions</vt:lpstr>
      <vt:lpstr>How will we train people in unit testing?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FileNewTemplate</dc:title>
  <dc:creator>Diana</dc:creator>
  <cp:lastModifiedBy>Tam, Amy</cp:lastModifiedBy>
  <cp:revision>165</cp:revision>
  <dcterms:created xsi:type="dcterms:W3CDTF">2010-04-12T23:12:02Z</dcterms:created>
  <dcterms:modified xsi:type="dcterms:W3CDTF">2020-08-10T22:38:09Z</dcterms:modified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0x01010006369B9D3D75DB42A4294084EDAAF6E5</vt:lpwstr>
  </property>
  <property fmtid="{D5CDD505-2E9C-101B-9397-08002B2CF9AE}" pid="3" name="HeaderStyleDefinitions">
    <vt:lpwstr/>
  </property>
  <property fmtid="{D5CDD505-2E9C-101B-9397-08002B2CF9AE}" pid="4" name="RedirectURL">
    <vt:lpwstr/>
  </property>
  <property fmtid="{D5CDD505-2E9C-101B-9397-08002B2CF9AE}" pid="5" name="_dlc_DocId">
    <vt:lpwstr>XP2E3VQ6UM2P-190-604</vt:lpwstr>
  </property>
  <property fmtid="{D5CDD505-2E9C-101B-9397-08002B2CF9AE}" pid="6" name="_dlc_DocIdItemGuid">
    <vt:lpwstr>b3a62df3-7c60-4dea-b85f-723f5f01627a</vt:lpwstr>
  </property>
  <property fmtid="{D5CDD505-2E9C-101B-9397-08002B2CF9AE}" pid="7" name="_dlc_DocIdUrl">
    <vt:lpwstr>http://intranet.ga.com/Publications/_layouts/DocIdRedir.aspx?ID=XP2E3VQ6UM2P-190-604, XP2E3VQ6UM2P-190-604</vt:lpwstr>
  </property>
  <property fmtid="{D5CDD505-2E9C-101B-9397-08002B2CF9AE}" pid="8" name="display_urn:schemas-microsoft-com:office:office#Editor">
    <vt:lpwstr>Shamoun, Randy</vt:lpwstr>
  </property>
  <property fmtid="{D5CDD505-2E9C-101B-9397-08002B2CF9AE}" pid="9" name="display_urn:schemas-microsoft-com:office:office#Author">
    <vt:lpwstr>Shamoun, Randy</vt:lpwstr>
  </property>
  <property fmtid="{D5CDD505-2E9C-101B-9397-08002B2CF9AE}" pid="10" name="Order">
    <vt:lpwstr>60400.0000000000</vt:lpwstr>
  </property>
</Properties>
</file>